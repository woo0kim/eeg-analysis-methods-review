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0" r:id="rId2"/>
  </p:sldMasterIdLst>
  <p:notesMasterIdLst>
    <p:notesMasterId r:id="rId6"/>
  </p:notesMasterIdLst>
  <p:sldIdLst>
    <p:sldId id="256" r:id="rId3"/>
    <p:sldId id="257" r:id="rId4"/>
    <p:sldId id="264" r:id="rId5"/>
  </p:sldIdLst>
  <p:sldSz cx="12192000" cy="6858000"/>
  <p:notesSz cx="6858000" cy="9144000"/>
  <p:embeddedFontLst>
    <p:embeddedFont>
      <p:font typeface="Arial Black" panose="020B0604020202020204" pitchFamily="34" charset="0"/>
      <p:bold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uYUOm1tEe4s/X244UACjsvSwO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font" Target="fonts/font1.fntdata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ctrTitle"/>
          </p:nvPr>
        </p:nvSpPr>
        <p:spPr>
          <a:xfrm>
            <a:off x="612648" y="3293316"/>
            <a:ext cx="5509071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  <a:defRPr sz="3600">
                <a:solidFill>
                  <a:srgbClr val="FFCC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20" name="Google Shape;2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7" descr="A black background with white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2" y="30146"/>
            <a:ext cx="3794760" cy="1332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dk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9"/>
          <p:cNvSpPr txBox="1">
            <a:spLocks noGrp="1"/>
          </p:cNvSpPr>
          <p:nvPr>
            <p:ph type="title"/>
          </p:nvPr>
        </p:nvSpPr>
        <p:spPr>
          <a:xfrm>
            <a:off x="612647" y="365760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>
                <a:solidFill>
                  <a:srgbClr val="FFC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body" idx="1"/>
          </p:nvPr>
        </p:nvSpPr>
        <p:spPr>
          <a:xfrm>
            <a:off x="612647" y="1810512"/>
            <a:ext cx="10972800" cy="436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5" name="Google Shape;25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Divider ">
  <p:cSld name="Section Divider ">
    <p:bg>
      <p:bgPr>
        <a:solidFill>
          <a:schemeClr val="dk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21"/>
          <p:cNvCxnSpPr/>
          <p:nvPr/>
        </p:nvCxnSpPr>
        <p:spPr>
          <a:xfrm>
            <a:off x="640080" y="4833257"/>
            <a:ext cx="3773731" cy="0"/>
          </a:xfrm>
          <a:prstGeom prst="straightConnector1">
            <a:avLst/>
          </a:prstGeom>
          <a:noFill/>
          <a:ln w="5080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" name="Google Shape;28;p21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9" name="Google Shape;29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Column - Photo w/ Title and Content">
  <p:cSld name="2 Column - Photo w/ Title and Content">
    <p:bg>
      <p:bgPr>
        <a:solidFill>
          <a:schemeClr val="dk1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4"/>
          <p:cNvSpPr>
            <a:spLocks noGrp="1"/>
          </p:cNvSpPr>
          <p:nvPr>
            <p:ph type="pic" idx="2"/>
          </p:nvPr>
        </p:nvSpPr>
        <p:spPr>
          <a:xfrm>
            <a:off x="612648" y="365760"/>
            <a:ext cx="5760720" cy="5674995"/>
          </a:xfrm>
          <a:prstGeom prst="rect">
            <a:avLst/>
          </a:prstGeom>
          <a:noFill/>
          <a:ln>
            <a:noFill/>
          </a:ln>
        </p:spPr>
      </p:sp>
      <p:pic>
        <p:nvPicPr>
          <p:cNvPr id="32" name="Google Shape;32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074" y="6176963"/>
            <a:ext cx="983152" cy="6144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4"/>
          <p:cNvSpPr txBox="1">
            <a:spLocks noGrp="1"/>
          </p:cNvSpPr>
          <p:nvPr>
            <p:ph type="body" idx="1"/>
          </p:nvPr>
        </p:nvSpPr>
        <p:spPr>
          <a:xfrm>
            <a:off x="6562724" y="365760"/>
            <a:ext cx="5016629" cy="761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C00"/>
              </a:buClr>
              <a:buSzPts val="2000"/>
              <a:buNone/>
              <a:defRPr sz="2000">
                <a:solidFill>
                  <a:srgbClr val="FFCC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24"/>
          <p:cNvSpPr txBox="1">
            <a:spLocks noGrp="1"/>
          </p:cNvSpPr>
          <p:nvPr>
            <p:ph type="body" idx="3"/>
          </p:nvPr>
        </p:nvSpPr>
        <p:spPr>
          <a:xfrm>
            <a:off x="6562724" y="1298448"/>
            <a:ext cx="5016629" cy="47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 descr="A white and red page with text and a graphic desig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0000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5"/>
          <p:cNvPicPr preferRelativeResize="0"/>
          <p:nvPr/>
        </p:nvPicPr>
        <p:blipFill rotWithShape="1">
          <a:blip r:embed="rId6">
            <a:alphaModFix amt="35000"/>
          </a:blip>
          <a:srcRect/>
          <a:stretch/>
        </p:blipFill>
        <p:spPr>
          <a:xfrm>
            <a:off x="4870613" y="-623226"/>
            <a:ext cx="8104451" cy="81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5"/>
          <p:cNvSpPr txBox="1">
            <a:spLocks noGrp="1"/>
          </p:cNvSpPr>
          <p:nvPr>
            <p:ph type="title"/>
          </p:nvPr>
        </p:nvSpPr>
        <p:spPr>
          <a:xfrm>
            <a:off x="612648" y="365125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 b="0" i="0" u="none" strike="noStrike" cap="none">
                <a:solidFill>
                  <a:srgbClr val="FFC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body" idx="1"/>
          </p:nvPr>
        </p:nvSpPr>
        <p:spPr>
          <a:xfrm>
            <a:off x="612648" y="1825625"/>
            <a:ext cx="10972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>
            <a:spLocks noGrp="1"/>
          </p:cNvSpPr>
          <p:nvPr>
            <p:ph type="ctrTitle"/>
          </p:nvPr>
        </p:nvSpPr>
        <p:spPr>
          <a:xfrm>
            <a:off x="679650" y="2305200"/>
            <a:ext cx="10832700" cy="1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C00"/>
              </a:buClr>
              <a:buSzPts val="3600"/>
              <a:buFont typeface="Arial Black"/>
              <a:buNone/>
            </a:pPr>
            <a:r>
              <a:rPr lang="en-US" sz="4000" b="1" dirty="0">
                <a:latin typeface="Arial"/>
                <a:ea typeface="Arial"/>
                <a:cs typeface="Arial"/>
                <a:sym typeface="Arial"/>
              </a:rPr>
              <a:t>Weekly Meeting: EEG Conformer Validation </a:t>
            </a:r>
            <a:endParaRPr sz="40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subTitle" idx="1"/>
          </p:nvPr>
        </p:nvSpPr>
        <p:spPr>
          <a:xfrm>
            <a:off x="612648" y="4864061"/>
            <a:ext cx="5509071" cy="100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Wooyoung Kim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dirty="0"/>
              <a:t>Media Communication Lab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2508AA-AD09-CAAA-4795-F3553ACB4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6563" y="748678"/>
            <a:ext cx="9914806" cy="2584629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F308D1-9C57-CC06-67BB-BEDA85D962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699441"/>
              </p:ext>
            </p:extLst>
          </p:nvPr>
        </p:nvGraphicFramePr>
        <p:xfrm>
          <a:off x="2769043" y="4020485"/>
          <a:ext cx="7969846" cy="259406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843866">
                  <a:extLst>
                    <a:ext uri="{9D8B030D-6E8A-4147-A177-3AD203B41FA5}">
                      <a16:colId xmlns:a16="http://schemas.microsoft.com/office/drawing/2014/main" val="894736247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2682562194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998974834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3485467215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2082652896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197725967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3662429045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1939829471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780095778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3666411630"/>
                    </a:ext>
                  </a:extLst>
                </a:gridCol>
                <a:gridCol w="712598">
                  <a:extLst>
                    <a:ext uri="{9D8B030D-6E8A-4147-A177-3AD203B41FA5}">
                      <a16:colId xmlns:a16="http://schemas.microsoft.com/office/drawing/2014/main" val="649962102"/>
                    </a:ext>
                  </a:extLst>
                </a:gridCol>
              </a:tblGrid>
              <a:tr h="1953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Subject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S1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S2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S3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S4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S5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S6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S7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S8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S9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000" dirty="0">
                          <a:effectLst/>
                        </a:rPr>
                        <a:t>Avg</a:t>
                      </a:r>
                      <a:endParaRPr lang="en-US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1155144"/>
                  </a:ext>
                </a:extLst>
              </a:tr>
              <a:tr h="8333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Paper, TableII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88.19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</a:rPr>
                        <a:t>61.46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93.40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78.13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52.08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65.28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92.36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88.19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88.89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</a:rPr>
                        <a:t>78.66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8825755"/>
                  </a:ext>
                </a:extLst>
              </a:tr>
              <a:tr h="48818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Reproduced: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 paper’s rule (best epoch)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89.12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60.07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93.17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80.90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52.78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62.73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</a:rPr>
                        <a:t>92.48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87.50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89.70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78.72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2558754"/>
                  </a:ext>
                </a:extLst>
              </a:tr>
              <a:tr h="45331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Reproduced: mean of last 100 epochs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80.03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46.20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</a:rPr>
                        <a:t>86.91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71.18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40.98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53.56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77.34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80.78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81.93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68.77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8641452"/>
                  </a:ext>
                </a:extLst>
              </a:tr>
              <a:tr h="61446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US" sz="900" dirty="0">
                          <a:effectLst/>
                        </a:rPr>
                        <a:t>Reproduced: validation-selected epoch</a:t>
                      </a:r>
                      <a:endParaRPr lang="en-US" sz="9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84.26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48.96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86.34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71.30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41.67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54.51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76.97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81.37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>
                          <a:solidFill>
                            <a:schemeClr val="accent6"/>
                          </a:solidFill>
                          <a:effectLst/>
                        </a:rPr>
                        <a:t>84.72</a:t>
                      </a:r>
                      <a:endParaRPr lang="en-US" sz="140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buNone/>
                      </a:pPr>
                      <a:r>
                        <a:rPr lang="en-US" sz="1400" dirty="0">
                          <a:solidFill>
                            <a:schemeClr val="accent6"/>
                          </a:solidFill>
                          <a:effectLst/>
                        </a:rPr>
                        <a:t>70.01</a:t>
                      </a:r>
                      <a:endParaRPr lang="en-US" sz="1400" dirty="0">
                        <a:solidFill>
                          <a:schemeClr val="accent6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10740550"/>
                  </a:ext>
                </a:extLst>
              </a:tr>
            </a:tbl>
          </a:graphicData>
        </a:graphic>
      </p:graphicFrame>
      <p:sp>
        <p:nvSpPr>
          <p:cNvPr id="10" name="Google Shape;79;g3abb00e6072_0_1">
            <a:extLst>
              <a:ext uri="{FF2B5EF4-FFF2-40B4-BE49-F238E27FC236}">
                <a16:creationId xmlns:a16="http://schemas.microsoft.com/office/drawing/2014/main" id="{05CCB154-B8D2-720F-9D44-40787F50B4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3486" y="62190"/>
            <a:ext cx="8406988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/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Experiment Result in the Paper (https://</a:t>
            </a:r>
            <a:r>
              <a:rPr lang="en-US" sz="2100" b="1" dirty="0" err="1">
                <a:latin typeface="Arial"/>
                <a:ea typeface="Arial"/>
                <a:cs typeface="Arial"/>
                <a:sym typeface="Arial"/>
              </a:rPr>
              <a:t>ieeexplore.ieee.org</a:t>
            </a: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/stamp/</a:t>
            </a:r>
            <a:r>
              <a:rPr lang="en-US" sz="2100" b="1" dirty="0" err="1">
                <a:latin typeface="Arial"/>
                <a:ea typeface="Arial"/>
                <a:cs typeface="Arial"/>
                <a:sym typeface="Arial"/>
              </a:rPr>
              <a:t>stamp.jsp?tp</a:t>
            </a: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=&amp;</a:t>
            </a:r>
            <a:r>
              <a:rPr lang="en-US" sz="2100" b="1" dirty="0" err="1">
                <a:latin typeface="Arial"/>
                <a:ea typeface="Arial"/>
                <a:cs typeface="Arial"/>
                <a:sym typeface="Arial"/>
              </a:rPr>
              <a:t>arnumber</a:t>
            </a:r>
            <a:r>
              <a:rPr lang="en-US" sz="2100" b="1" dirty="0">
                <a:latin typeface="Arial"/>
                <a:ea typeface="Arial"/>
                <a:cs typeface="Arial"/>
                <a:sym typeface="Arial"/>
              </a:rPr>
              <a:t>=9991178</a:t>
            </a:r>
            <a:endParaRPr sz="21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79;g3abb00e6072_0_1">
            <a:extLst>
              <a:ext uri="{FF2B5EF4-FFF2-40B4-BE49-F238E27FC236}">
                <a16:creationId xmlns:a16="http://schemas.microsoft.com/office/drawing/2014/main" id="{6D115CDD-17B5-F99E-2D08-11A3BA3F1FD0}"/>
              </a:ext>
            </a:extLst>
          </p:cNvPr>
          <p:cNvSpPr txBox="1">
            <a:spLocks/>
          </p:cNvSpPr>
          <p:nvPr/>
        </p:nvSpPr>
        <p:spPr>
          <a:xfrm>
            <a:off x="173486" y="3429000"/>
            <a:ext cx="8406988" cy="5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Arial Black"/>
              <a:buNone/>
              <a:defRPr sz="2800" b="0" i="0" u="none" strike="noStrike" cap="none">
                <a:solidFill>
                  <a:srgbClr val="FFC000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latin typeface="Arial"/>
                <a:ea typeface="Arial"/>
                <a:cs typeface="Arial"/>
                <a:sym typeface="Arial"/>
              </a:rPr>
              <a:t>Experiment Result on my 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>
            <a:spLocks noGrp="1"/>
          </p:cNvSpPr>
          <p:nvPr>
            <p:ph type="body" idx="1"/>
          </p:nvPr>
        </p:nvSpPr>
        <p:spPr>
          <a:xfrm>
            <a:off x="612648" y="4050792"/>
            <a:ext cx="4518025" cy="67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>
              <a:solidFill>
                <a:srgbClr val="FFC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USC Powerpoint Template - Red ">
  <a:themeElements>
    <a:clrScheme name="Custom 51">
      <a:dk1>
        <a:srgbClr val="990000"/>
      </a:dk1>
      <a:lt1>
        <a:srgbClr val="FFFFFF"/>
      </a:lt1>
      <a:dk2>
        <a:srgbClr val="445469"/>
      </a:dk2>
      <a:lt2>
        <a:srgbClr val="E7E6E6"/>
      </a:lt2>
      <a:accent1>
        <a:srgbClr val="991B1E"/>
      </a:accent1>
      <a:accent2>
        <a:srgbClr val="FFCC00"/>
      </a:accent2>
      <a:accent3>
        <a:srgbClr val="939598"/>
      </a:accent3>
      <a:accent4>
        <a:srgbClr val="CCCCCC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117</Words>
  <Application>Microsoft Macintosh PowerPoint</Application>
  <PresentationFormat>Widescreen</PresentationFormat>
  <Paragraphs>62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Black</vt:lpstr>
      <vt:lpstr>Calibri</vt:lpstr>
      <vt:lpstr>1_Custom Design</vt:lpstr>
      <vt:lpstr>USC Powerpoint Template - Red </vt:lpstr>
      <vt:lpstr>Weekly Meeting: EEG Conformer Validation </vt:lpstr>
      <vt:lpstr>Experiment Result in the Paper (https://ieeexplore.ieee.org/stamp/stamp.jsp?tp=&amp;arnumber=9991178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Diana Molleda</dc:creator>
  <cp:lastModifiedBy>Wooyoung Kim</cp:lastModifiedBy>
  <cp:revision>6</cp:revision>
  <dcterms:created xsi:type="dcterms:W3CDTF">2018-10-15T18:11:54Z</dcterms:created>
  <dcterms:modified xsi:type="dcterms:W3CDTF">2026-09-28T08:52:41Z</dcterms:modified>
</cp:coreProperties>
</file>