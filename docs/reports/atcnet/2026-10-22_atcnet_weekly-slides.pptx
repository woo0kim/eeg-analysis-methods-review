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256" r:id="rId3"/>
    <p:sldId id="265" r:id="rId12"/>
    <p:sldId id="266" r:id="rId13"/>
    <p:sldId id="267" r:id="rId14"/>
    <p:sldId id="268" r:id="rId15"/>
    <p:sldId id="269" r:id="rId16"/>
    <p:sldId id="264" r:id="rId5"/>
  </p:sldIdLst>
  <p:sldSz cx="12192000" cy="6858000"/>
  <p:notesSz cx="6858000" cy="9144000"/>
  <p:embeddedFontLst>
    <p:embeddedFont>
      <p:font typeface="Arial Black" panose="020B0604020202020204" pitchFamily="34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uYUOm1tEe4s/X244UACjsvSw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LaBraM (Jiang, Zhao &amp; Lu, ICLR 2024): validation of the released code and LaBraM-Base weights, plus a survey of how EEG review papers report existing methods' results (reproduction vs. citation).</a:t>
            </a:r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612648" y="3293316"/>
            <a:ext cx="5509071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  <a:defRPr sz="3600">
                <a:solidFill>
                  <a:srgbClr val="FFCC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7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" y="30146"/>
            <a:ext cx="3794760" cy="133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12647" y="365760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12647" y="1810512"/>
            <a:ext cx="10972800" cy="436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">
  <p:cSld name="Section Divider 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1"/>
          <p:cNvCxnSpPr/>
          <p:nvPr/>
        </p:nvCxnSpPr>
        <p:spPr>
          <a:xfrm>
            <a:off x="640080" y="4833257"/>
            <a:ext cx="3773731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" name="Google Shape;2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- Photo w/ Title and Content">
  <p:cSld name="2 Column - Photo w/ Title and Conten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>
            <a:spLocks noGrp="1"/>
          </p:cNvSpPr>
          <p:nvPr>
            <p:ph type="pic" idx="2"/>
          </p:nvPr>
        </p:nvSpPr>
        <p:spPr>
          <a:xfrm>
            <a:off x="612648" y="365760"/>
            <a:ext cx="5760720" cy="5674995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6562724" y="365760"/>
            <a:ext cx="5016629" cy="76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C00"/>
              </a:buClr>
              <a:buSzPts val="2000"/>
              <a:buNone/>
              <a:defRPr sz="2000">
                <a:solidFill>
                  <a:srgbClr val="FFCC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3"/>
          </p:nvPr>
        </p:nvSpPr>
        <p:spPr>
          <a:xfrm>
            <a:off x="6562724" y="1298448"/>
            <a:ext cx="5016629" cy="47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A white and red page with text and a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4870613" y="-623226"/>
            <a:ext cx="8104451" cy="81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 b="0" i="0" u="none" strike="noStrike" cap="none">
                <a:solidFill>
                  <a:srgbClr val="FFC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ctrTitle"/>
          </p:nvPr>
        </p:nvSpPr>
        <p:spPr>
          <a:xfrm>
            <a:off x="679650" y="2305200"/>
            <a:ext cx="10832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</a:pPr>
            <a:r>
              <a:rPr lang="en-US" sz="4000" b="1" dirty="0">
                <a:latin typeface="Arial"/>
                <a:ea typeface="Arial"/>
                <a:cs typeface="Arial"/>
                <a:sym typeface="Arial"/>
              </a:rPr>
              <a:t>Weekly Meeting: ATCNet &amp; braindecode</a:t>
            </a:r>
            <a:endParaRPr sz="4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Wooyoung Kim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Media Communication 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braindecode Re-implementations of the Four Reviewed Methods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braindecode 1.8.1 swapped into each released pipeline (data, splits, seeds, checkpoint rule unchanged) · same weights compared first · 149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braindecode vs. the released implementation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11365992" cy="23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0000"/>
                <a:gridCol w="3400000"/>
                <a:gridCol w="4300000"/>
                <a:gridCol w="1965992"/>
              </a:tblGrid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Same weights → same output?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braindecode − released, same pipeline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EEG Conformer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No: attention ÷ √(head dim) = 2, not √40;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identical once patched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released rule 78.56 vs. 78.72% (p = 0.57)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validation-selected 69.32 vs. 70.01% (p = 0.57)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reproduces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CBraMod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Encoder + weights identical;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head differs (proj_out kept + 1 linear layer)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3 of 4 datasets within noise; PhysioNet-MI BA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−0.020 (p = 0.02), −0.072 scratch, −0.092 frozen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except PhysioNet-MI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LaBraM-Base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Identical (weights and logits)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all 12 metrics within noise (p ≥ 0.12)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reproduces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Arial"/>
                        </a:rPr>
                        <a:t>EEGNet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vs. our PyTorch EEGNet (same size)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all 12 metrics within noise (closest p = 0.053)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0B0B"/>
                          </a:solidFill>
                          <a:latin typeface="Arial"/>
                        </a:rPr>
                        <a:t>reproduces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3850000"/>
            <a:ext cx="11365992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CBraMod’s gap is the head: </a:t>
            </a:r>
            <a:r>
              <a:rPr sz="1300" b="0">
                <a:solidFill>
                  <a:srgbClr val="FFFFFF"/>
                </a:solidFill>
                <a:latin typeface="Arial"/>
              </a:rPr>
              <a:t>the released model with its own 1-layer head scores like braindecode’s when fine-tuned (0.604 vs. 0.607); frozen, probing proj_out’s output costs 0.10.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 braindecode version comes closer to its paper; </a:t>
            </a:r>
            <a:r>
              <a:rPr sz="1300" b="0">
                <a:solidFill>
                  <a:srgbClr val="FFFFFF"/>
                </a:solidFill>
                <a:latin typeface="Arial"/>
              </a:rPr>
              <a:t>one ranking changes: CBraMod no longer beats LaBraM-Base on PhysioNet-MI when both come from braindecode (−0.011, p = 0.13).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Pitfalls: </a:t>
            </a:r>
            <a:r>
              <a:rPr sz="1300" b="0">
                <a:solidFill>
                  <a:srgbClr val="FFFFFF"/>
                </a:solidFill>
                <a:latin typeface="Arial"/>
              </a:rPr>
              <a:t>needs torch ≥ 2.1 (declares 2.0); Labram.from_pretrained() fails for windows ≠ 15 s; Labram lacks no_weight_decay(); CBraMod.from_pretrained() loads with strict=False.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C00"/>
                </a:solidFill>
                <a:latin typeface="Arial"/>
              </a:rPr>
              <a:t>Takeaway: </a:t>
            </a:r>
            <a:r>
              <a:rPr sz="1200" b="0">
                <a:solidFill>
                  <a:srgbClr val="FFFFFF"/>
                </a:solidFill>
                <a:latin typeface="Arial"/>
              </a:rPr>
              <a:t>braindecode’s versions of the four models reproduce the released code’s numbers, except CBraMod on PhysioNet-MI, where braindecode ships a different task 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ATCNet (IEEE TII 2023): Experiment Result in the Paper vs. on My End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Authors’ TensorFlow code: the 2022 version behind the paper (repo history) and today’s two scripts · BCI IV 2a, session T → E · 297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Accuracy (%), mean over 9 subjects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363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0000"/>
                <a:gridCol w="1550000"/>
                <a:gridCol w="1100000"/>
                <a:gridCol w="140936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Validation data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Reported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Acc. (κ)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Paper (Tables IV–V)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85.38 (0.805)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Authors’ 2022 runs (log)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best of 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85.38 (0.805)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Authors’ 2022 runs (log)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81.98 (0.760)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2022 code, mine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best of 10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84.18 (0.789)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2022 code, mine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81.47 (0.753)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main_TrainTest.py (today)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test set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86.89 (0.825)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main_TrainValTest.py (today)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20% of session T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79.52 (0.727)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Paper, LOSO (Table VI)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70.97 (0.613)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LOSO, main_TrainTest.py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held-out subject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best of 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70.16 (0.602)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LOSO, main_TrainTest.py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held-out subject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69.06 (0.587)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What I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325880"/>
            <a:ext cx="4800600" cy="4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Data check: </a:t>
            </a:r>
            <a:r>
              <a:rPr sz="1100" b="0">
                <a:solidFill>
                  <a:srgbClr val="FFFFFF"/>
                </a:solidFill>
                <a:latin typeface="Arial"/>
              </a:rPr>
              <a:t>the paper’s saved best-of-10 models give exactly 85.38% / κ 0.805 on my copy of the data.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85.38% = best of 10 runs per subject, </a:t>
            </a:r>
            <a:r>
              <a:rPr sz="1100" b="0">
                <a:solidFill>
                  <a:srgbClr val="FFFFFF"/>
                </a:solidFill>
                <a:latin typeface="Arial"/>
              </a:rPr>
              <a:t>chosen by test accuracy, each run checkpointed on the test set (authors’ 2022 log: best 85.38, mean of all runs 81.98).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The 2022 code reproduces the authors’ runs: </a:t>
            </a:r>
            <a:r>
              <a:rPr sz="1100" b="0">
                <a:solidFill>
                  <a:srgbClr val="FFFFFF"/>
                </a:solidFill>
                <a:latin typeface="Arial"/>
              </a:rPr>
              <a:t>mean 81.47% vs. 81.98% (Mann-Whitney p = 0.77).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With a validation split </a:t>
            </a:r>
            <a:r>
              <a:rPr sz="1100" b="0">
                <a:solidFill>
                  <a:srgbClr val="FFFFFF"/>
                </a:solidFill>
                <a:latin typeface="Arial"/>
              </a:rPr>
              <a:t>(the authors’ current recommendation): 79.52%, −5.86 pp. Seed 1 matches the README (81.10%) on 8 of 9 subjects to the trial.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Today’s main_TrainTest.py is a rewritten model: </a:t>
            </a:r>
            <a:r>
              <a:rPr sz="1100" b="0">
                <a:solidFill>
                  <a:srgbClr val="FFFFFF"/>
                </a:solidFill>
                <a:latin typeface="Arial"/>
              </a:rPr>
              <a:t>86.89% per run under the old protocol (+5.42 pp vs. the 2022 code).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LOSO reproduces within 1–2 pp </a:t>
            </a:r>
            <a:r>
              <a:rPr sz="1100" b="0">
                <a:solidFill>
                  <a:srgbClr val="FFFFFF"/>
                </a:solidFill>
                <a:latin typeface="Arial"/>
              </a:rPr>
              <a:t>(70.16% best of 3 vs. 70.97%).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8064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C00"/>
                </a:solidFill>
                <a:latin typeface="Arial"/>
              </a:rPr>
              <a:t>Takeaway: </a:t>
            </a:r>
            <a:r>
              <a:rPr sz="1200" b="0">
                <a:solidFill>
                  <a:srgbClr val="FFFFFF"/>
                </a:solidFill>
                <a:latin typeface="Arial"/>
              </a:rPr>
              <a:t>the code behind the paper reproduces; the 85.38% is a best-of-10, test-selected statistic. A single run with a validation split gives ≈ 79.5%.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What the 85.38% Is Made Of: Two Selections on the Test Set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2022 main.py: session E is Keras’ validation data → checkpoint = best test epoch, early stopping on test accuracy; test() reports each subject’s best of 10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960120"/>
            <a:ext cx="11365992" cy="38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reported_vs_reprodu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00232" cy="37305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10120"/>
            <a:ext cx="11365992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2022 code, one run: </a:t>
            </a:r>
            <a:r>
              <a:rPr sz="1150" b="0">
                <a:solidFill>
                  <a:srgbClr val="FFFFFF"/>
                </a:solidFill>
                <a:latin typeface="Arial"/>
              </a:rPr>
              <a:t>77.9% over its last 50 epochs → saved best test epoch 81.47% (+3.6 pp) → best of 10 runs 84.18% (+2.7 pp); the authors’ own runs: 81.98 → 85.38% (+3.4 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C00"/>
                </a:solidFill>
                <a:latin typeface="Arial"/>
              </a:rPr>
              <a:t>Takeaway: </a:t>
            </a:r>
            <a:r>
              <a:rPr sz="1200" b="0">
                <a:solidFill>
                  <a:srgbClr val="FFFFFF"/>
                </a:solidFill>
                <a:latin typeface="Arial"/>
              </a:rPr>
              <a:t>≈ 6–7 pp of the 85.38% come from choosing epochs and runs on the test set; with a validation split ATCNet scores 79.52%.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braindecode’s ATCNet vs. the Released Code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Released training loops ported to PyTorch (released data loader, Keras fit semantics, callbacks, seeds) · controls = braindecode + Keras training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Accuracy (%), braindecode − Keras on the same seeds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050000" cy="16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0000"/>
                <a:gridCol w="800000"/>
                <a:gridCol w="950000"/>
                <a:gridCol w="880000"/>
                <a:gridCol w="930000"/>
                <a:gridCol w="84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Protocol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Keras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bd default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default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“faithful”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control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2022 loop (paper)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81.47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76.26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−5.20*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+0.72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main_TrainTest.py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86.76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76.41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−10.35*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−3.29*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main_TrainValTest.py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80.29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67.57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−12.72*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−4.63*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−1.12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LOSO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69.12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67.36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−1.76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306844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* Wilcoxon p &lt; 0.05 over the 9 subjects. Mean of runs; 2022 loop 10 seeds, others 1–5 (README).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9844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Ablation (2022 loop): defaults + one Keras behaviour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736776"/>
          <a:ext cx="6050000" cy="17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0000"/>
                <a:gridCol w="1450000"/>
                <a:gridCol w="1450000"/>
              </a:tblGrid>
              <a:tr h="25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Switched on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Δ vs. defaults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Δ vs. Keras</a:t>
                      </a:r>
                    </a:p>
                  </a:txBody>
                  <a:tcPr marL="45720" marR="45720" marT="18288" marB="18288" anchor="ctr">
                    <a:solidFill>
                      <a:srgbClr val="3F3F3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element-wise dropout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+1.50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−2.35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attention-weight dropout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−0.58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−4.44*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Keras BatchNorm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+0.46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−3.40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Keras init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−0.69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−4.55*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depthwise max-norm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+0.73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−3.13*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Arial"/>
                        </a:rPr>
                        <a:t>final max-norm per output unit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+3.68*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B0B0B"/>
                          </a:solidFill>
                          <a:latin typeface="Arial"/>
                        </a:rPr>
                        <a:t>−0.89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115160" y="9601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What I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5160" y="1325880"/>
            <a:ext cx="4680600" cy="4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Same network: </a:t>
            </a:r>
            <a:r>
              <a:rPr sz="1100" b="0">
                <a:solidFill>
                  <a:srgbClr val="FFFFFF"/>
                </a:solidFill>
                <a:latin typeface="Arial"/>
              </a:rPr>
              <a:t>authors’ weights load 1:1; identical predictions with Keras’ BatchNorm eps (with braindecode’s eps the paper’s models score 84.53%, not 85.38%).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Paper’s protocol: −5.20 pp </a:t>
            </a:r>
            <a:r>
              <a:rPr sz="1100" b="0">
                <a:solidFill>
                  <a:srgbClr val="FFFFFF"/>
                </a:solidFill>
                <a:latin typeface="Arial"/>
              </a:rPr>
              <a:t>(76.26 vs. 81.47%, 0 of 9 subjects higher); the control with the Keras training behaviour is level.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Cause: the final max-norm axis. </a:t>
            </a:r>
            <a:r>
              <a:rPr sz="1100" b="0">
                <a:solidFill>
                  <a:srgbClr val="FFFFFF"/>
                </a:solidFill>
                <a:latin typeface="Arial"/>
              </a:rPr>
              <a:t>MaxNormLinear limits the norm per input feature; per output unit (Keras) recovers +3.68 to +4.57 pp. Other differences ≤ 1.5 pp.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Today’s loops: −10 to −13 pp; </a:t>
            </a:r>
            <a:r>
              <a:rPr sz="1100" b="0">
                <a:solidFill>
                  <a:srgbClr val="FFFFFF"/>
                </a:solidFill>
                <a:latin typeface="Arial"/>
              </a:rPr>
              <a:t>“faithful” options close two thirds (wrong axis kept; their L2 is half strength).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LOSO: </a:t>
            </a:r>
            <a:r>
              <a:rPr sz="1100" b="0">
                <a:solidFill>
                  <a:srgbClr val="FFFFFF"/>
                </a:solidFill>
                <a:latin typeface="Arial"/>
              </a:rPr>
              <a:t>−1.76 pp (1 seed, n.s.).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C00"/>
                </a:solidFill>
                <a:latin typeface="Arial"/>
              </a:rPr>
              <a:t>Takeaway: </a:t>
            </a:r>
            <a:r>
              <a:rPr sz="1200" b="0">
                <a:solidFill>
                  <a:srgbClr val="FFFFFF"/>
                </a:solidFill>
                <a:latin typeface="Arial"/>
              </a:rPr>
              <a:t>braindecode’s ATCNet is the released network with a one-argument difference (MaxNormLinear’s dim) that costs 5 pp; with the Keras axis it matches the Keras code within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Issues Found and Conclusion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ATCNet paper and code; braindecode’s ATCNet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Issues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325880"/>
            <a:ext cx="6309360" cy="4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Test set used twice: </a:t>
            </a:r>
            <a:r>
              <a:rPr sz="1300" b="0">
                <a:solidFill>
                  <a:srgbClr val="FFFFFF"/>
                </a:solidFill>
                <a:latin typeface="Arial"/>
              </a:rPr>
              <a:t>checkpoint/early stopping on session E, then best of 10 runs by test accuracy; neither in the paper.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Released code ≠ paper code: </a:t>
            </a:r>
            <a:r>
              <a:rPr sz="1300" b="0">
                <a:solidFill>
                  <a:srgbClr val="FFFFFF"/>
                </a:solidFill>
                <a:latin typeface="Arial"/>
              </a:rPr>
              <a:t>the 2022 code, log and weights were removed in Dec. 2023 after a rewrite (+5.4 pp per run under the same protocol).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Table VI: </a:t>
            </a:r>
            <a:r>
              <a:rPr sz="1300" b="0">
                <a:solidFill>
                  <a:srgbClr val="FFFFFF"/>
                </a:solidFill>
                <a:latin typeface="Arial"/>
              </a:rPr>
              <a:t>the uploaded 2022 LOSO loader cannot run (arguments in the wrong order).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Paper vs. code: </a:t>
            </a:r>
            <a:r>
              <a:rPr sz="1300" b="0">
                <a:solidFill>
                  <a:srgbClr val="FFFFFF"/>
                </a:solidFill>
                <a:latin typeface="Arial"/>
              </a:rPr>
              <a:t>windows averaged, not concatenated; extra dropout; 115.2K params incl. BatchNorm statistics.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Baselines (Table IV) </a:t>
            </a:r>
            <a:r>
              <a:rPr sz="1300" b="0">
                <a:solidFill>
                  <a:srgbClr val="FFFFFF"/>
                </a:solidFill>
                <a:latin typeface="Arial"/>
              </a:rPr>
              <a:t>were re-run with the same test-set selection.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braindecode: </a:t>
            </a:r>
            <a:r>
              <a:rPr sz="1300" b="0">
                <a:solidFill>
                  <a:srgbClr val="FFFFFF"/>
                </a:solidFill>
                <a:latin typeface="Arial"/>
              </a:rPr>
              <a:t>MaxNormLinear axis (also EEGTCNet); BatchNorm eps; L2 helper at half strength.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CC00"/>
                </a:solidFill>
                <a:latin typeface="Arial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325880"/>
            <a:ext cx="4800600" cy="4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Reproduces under its own rule: </a:t>
            </a:r>
            <a:r>
              <a:rPr sz="1300" b="0">
                <a:solidFill>
                  <a:srgbClr val="FFFFFF"/>
                </a:solidFill>
                <a:latin typeface="Arial"/>
              </a:rPr>
              <a:t>85.38% exact from the paper’s models; 2022 code ≈ authors’ runs.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Honest number: </a:t>
            </a:r>
            <a:r>
              <a:rPr sz="1300" b="0">
                <a:solidFill>
                  <a:srgbClr val="FFFFFF"/>
                </a:solidFill>
                <a:latin typeface="Arial"/>
              </a:rPr>
              <a:t>79.52% (validation split, 10 seeds); LOSO 69.06%.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Still strong: </a:t>
            </a:r>
            <a:r>
              <a:rPr sz="1300" b="0">
                <a:solidFill>
                  <a:srgbClr val="FFFFFF"/>
                </a:solidFill>
                <a:latin typeface="Arial"/>
              </a:rPr>
              <a:t>above EEG Conformer’s 70.01% with a validation split (different pipelines).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braindecode: </a:t>
            </a:r>
            <a:r>
              <a:rPr sz="1300" b="0">
                <a:solidFill>
                  <a:srgbClr val="FFFFFF"/>
                </a:solidFill>
                <a:latin typeface="Arial"/>
              </a:rPr>
              <a:t>four earlier models reproduce (CBraMod except PhysioNet-MI); ATCNet needs a one-line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8064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C00"/>
                </a:solidFill>
                <a:latin typeface="Arial"/>
              </a:rPr>
              <a:t>Next: </a:t>
            </a:r>
            <a:r>
              <a:rPr sz="1200" b="0">
                <a:solidFill>
                  <a:srgbClr val="FFFFFF"/>
                </a:solidFill>
                <a:latin typeface="Arial"/>
              </a:rPr>
              <a:t>report the braindecode issues upstream; re-run ATCNet’s baselines with a validation split; one shared protocol for ATCNet, EEG Conformer and EEGNet.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C Powerpoint Template - Red ">
  <a:themeElements>
    <a:clrScheme name="Custom 51">
      <a:dk1>
        <a:srgbClr val="990000"/>
      </a:dk1>
      <a:lt1>
        <a:srgbClr val="FFFFFF"/>
      </a:lt1>
      <a:dk2>
        <a:srgbClr val="445469"/>
      </a:dk2>
      <a:lt2>
        <a:srgbClr val="E7E6E6"/>
      </a:lt2>
      <a:accent1>
        <a:srgbClr val="991B1E"/>
      </a:accent1>
      <a:accent2>
        <a:srgbClr val="FFCC00"/>
      </a:accent2>
      <a:accent3>
        <a:srgbClr val="939598"/>
      </a:accent3>
      <a:accent4>
        <a:srgbClr val="CCCCCC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</Words>
  <Application>Microsoft Macintosh PowerPoint</Application>
  <PresentationFormat>Widescreen</PresentationFormat>
  <Paragraphs>62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1_Custom Design</vt:lpstr>
      <vt:lpstr>USC Powerpoint Template - Red </vt:lpstr>
      <vt:lpstr>Weekly Meeting: EEG Conformer Validation </vt:lpstr>
      <vt:lpstr>Experiment Result in the Paper (https://ieeexplore.ieee.org/stamp/stamp.jsp?tp=&amp;arnumber=9991178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Molleda</dc:creator>
  <cp:lastModifiedBy>Wooyoung Kim</cp:lastModifiedBy>
  <cp:revision>6</cp:revision>
  <dcterms:created xsi:type="dcterms:W3CDTF">2018-10-15T18:11:54Z</dcterms:created>
  <dcterms:modified xsi:type="dcterms:W3CDTF">2026-09-28T08:52:41Z</dcterms:modified>
  <dc:title>Weekly Meeting: LaBraM Validation</dc:title>
</cp:coreProperties>
</file>