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6"/>
  </p:notesMasterIdLst>
  <p:sldIdLst>
    <p:sldId id="256" r:id="rId3"/>
    <p:sldId id="257" r:id="rId4"/>
    <p:sldId id="265" r:id="rId22"/>
    <p:sldId id="266" r:id="rId23"/>
    <p:sldId id="267" r:id="rId15"/>
    <p:sldId id="268" r:id="rId16"/>
    <p:sldId id="264" r:id="rId5"/>
  </p:sldIdLst>
  <p:sldSz cx="12192000" cy="6858000"/>
  <p:notesSz cx="6858000" cy="9144000"/>
  <p:embeddedFontLst>
    <p:embeddedFont>
      <p:font typeface="Arial Black" panose="020B0604020202020204" pitchFamily="34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uYUOm1tEe4s/X244UACjsvSwO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3.xml"/><Relationship Id="rId23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Paper: LaBraM-Base (CBraMod paper)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errBars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0.0122</c:v>
                </c:pt>
                <c:pt idx="1">
                  <c:v>0.0085</c:v>
                </c:pt>
                <c:pt idx="2">
                  <c:v>0.0079</c:v>
                </c:pt>
                <c:pt idx="3">
                  <c:v>0.0125</c:v>
                </c:pt>
              </c:numLit>
            </c:plus>
            <c:minus>
              <c:numLit>
                <c:formatCode>General</c:formatCode>
                <c:ptCount val="4"/>
                <c:pt idx="0">
                  <c:v>0.0122</c:v>
                </c:pt>
                <c:pt idx="1">
                  <c:v>0.0085</c:v>
                </c:pt>
                <c:pt idx="2">
                  <c:v>0.0079</c:v>
                </c:pt>
                <c:pt idx="3">
                  <c:v>0.0125</c:v>
                </c:pt>
              </c:numLit>
            </c:minus>
            <c:spPr>
              <a:ln w="12700">
                <a:solidFill>
                  <a:srgbClr val="0B0B0B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PhysioNet-MI</c:v>
                </c:pt>
                <c:pt idx="1">
                  <c:v>BCIC-IV-2a</c:v>
                </c:pt>
                <c:pt idx="2">
                  <c:v>Mumtaz2016</c:v>
                </c:pt>
                <c:pt idx="3">
                  <c:v>MentalArithmetic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0.6173</c:v>
                </c:pt>
                <c:pt idx="1">
                  <c:v>0.4869</c:v>
                </c:pt>
                <c:pt idx="2">
                  <c:v>0.9409</c:v>
                </c:pt>
                <c:pt idx="3">
                  <c:v>0.6909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Mine: LaBraM-Base (released code)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sz="900" b="1">
                    <a:solidFill>
                      <a:srgbClr val="0B0B0B"/>
                    </a:solidFill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errBars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0.0098</c:v>
                </c:pt>
                <c:pt idx="1">
                  <c:v>0.0421</c:v>
                </c:pt>
                <c:pt idx="2">
                  <c:v>0.0041</c:v>
                </c:pt>
                <c:pt idx="3">
                  <c:v>0.0397</c:v>
                </c:pt>
              </c:numLit>
            </c:plus>
            <c:minus>
              <c:numLit>
                <c:formatCode>General</c:formatCode>
                <c:ptCount val="4"/>
                <c:pt idx="0">
                  <c:v>0.0098</c:v>
                </c:pt>
                <c:pt idx="1">
                  <c:v>0.0421</c:v>
                </c:pt>
                <c:pt idx="2">
                  <c:v>0.0041</c:v>
                </c:pt>
                <c:pt idx="3">
                  <c:v>0.0397</c:v>
                </c:pt>
              </c:numLit>
            </c:minus>
            <c:spPr>
              <a:ln w="12700">
                <a:solidFill>
                  <a:srgbClr val="0B0B0B"/>
                </a:solidFill>
              </a:ln>
            </c:spPr>
          </c:errBars>
          <c:cat>
            <c:strRef>
              <c:f>Sheet1!$A$2:$A$5</c:f>
              <c:strCache>
                <c:ptCount val="4"/>
                <c:pt idx="0">
                  <c:v>PhysioNet-MI</c:v>
                </c:pt>
                <c:pt idx="1">
                  <c:v>BCIC-IV-2a</c:v>
                </c:pt>
                <c:pt idx="2">
                  <c:v>Mumtaz2016</c:v>
                </c:pt>
                <c:pt idx="3">
                  <c:v>MentalArithmetic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0.6098</c:v>
                </c:pt>
                <c:pt idx="1">
                  <c:v>0.4477</c:v>
                </c:pt>
                <c:pt idx="2">
                  <c:v>0.8905</c:v>
                </c:pt>
                <c:pt idx="3">
                  <c:v>0.6562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Mine: CBraMod (same pipeline)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PhysioNet-MI</c:v>
                </c:pt>
                <c:pt idx="1">
                  <c:v>BCIC-IV-2a</c:v>
                </c:pt>
                <c:pt idx="2">
                  <c:v>Mumtaz2016</c:v>
                </c:pt>
                <c:pt idx="3">
                  <c:v>MentalArithmetic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0.6265</c:v>
                </c:pt>
                <c:pt idx="1">
                  <c:v>0.4571</c:v>
                </c:pt>
                <c:pt idx="2">
                  <c:v>0.8933</c:v>
                </c:pt>
                <c:pt idx="3">
                  <c:v>0.5889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2514E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0B0B0B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2514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LaBraM (Jiang, Zhao &amp; Lu, ICLR 2024): validation of the released code and LaBraM-Base weights, plus a survey of how EEG review papers report existing methods' results (reproduction vs. citation).</a:t>
            </a:r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Setup: LaBraM-Base fine-tuned with its released run_class_finetuning.py (unmodified; only get_dataset() swapped for CBraMod's LMDB files) and released checkpoints/labram-base.pth. README recipe: lr 5e-4, layer decay 0.65, 5 warm-up epochs, 50 epochs, batch 64, drop path 0.1. Seeds 0-4, CBraMod's subject-independent splits, epoch chosen by validation kappa (4-class) / AUROC (binary) as LaBraM's paper states, test scored once. 20 runs on 8x Quadro M6000.</a:t>
            </a:r>
          </a:p>
          <a:p>
            <a:r>
              <a:t>Within noise on 10 of 12 metrics; exceptions BCIC-IV-2a weighted F1 (-0.085) and Mumtaz2016 BA (-0.050). Mumtaz2016 gap shared by CBraMod (-0.063) and EEGNet (-0.040) in the same pipeline.</a:t>
            </a:r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Rules: (1) reported = first epoch with best validation kappa (4-class) / AUROC (binary); (2) LaBraM code = best validation accuracy (run_class_finetuning.py lines 499-505); (3) last epoch; (4) best test epoch (oracle, uses test labels).</a:t>
            </a:r>
          </a:p>
          <a:p>
            <a:r>
              <a:t>Mumtaz2016: test BA highest after epoch 1 (0.906), then declines; threshold chosen on validation (Youden J) gives 0.8959 +- 0.0048. MentalArithmetic: validation-optimal thresholds 0.003-0.096, outputs badly calibrated; re-thresholding 0.6611 +- 0.0545.</a:t>
            </a:r>
          </a:p>
          <a:p>
            <a:r>
              <a:t>Numbers: results/selection_analysis.txt; figure: results/fig_epoch_selection.png.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LaBraM Sec. 3.2 (p. 7): "The baselines are from Yang et al. (2023a), where we choose the best results to compare with." Every baseline cell in LaBraM Tables 1-2 equals BIOT Appendix Tables 4-5. make_TUEV.py line 157: the bipolar conversion inherited from BIOT is commented out, so LaBraM TUEV inputs are 23 monopolar channels. EEG-FM-Bench: arXiv 2508.17742 Table 2 (full-parameter single-task fine-tuning). AdaBrain-Bench: arXiv 2507.09882 Table 2 (cross-subject, full fine-tuning).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Reviews/surveys without own experiments (6/6 cite): Roy 2019 (arXiv 1901.05498), Zhang 2021 (1905.04149), Gu 2021 (2001.11337), Kuruppu 2025 (2507.11783), Zhou 2025 (2503.00580), Lai 2025 (2504.20069). Hybrid: EEG-FM-Compass 2026 (2601.17883), whose Suppl. Table 59 also marks Lai, Zhou and Kuruppu as having no benchmark. Benchmarks (10/10 re-run): MOABB 2018 (1805.06427), MOABB 2024 (2404.15319), Gemein 2020 (2002.05115), Rommel 2022 (2206.14483), Lee 2025 (2507.01196), AdaBrain-Bench (2507.09882), EEG-FM-Bench (2508.17742), EEG-Bench (2512.08959), Brain4FMs (2602.11558), OmniEEG-Bench (2606.00815).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BIOT arXiv 2305.10351 App. A.2 p.15, Tables 4-5 p.16. LaBraM arXiv 2405.18765 Sec. 3.2 p.7, Tables 1-2 p.8. NeuroLM arXiv 2409.00101 p.7 ("reported using three random seeds"), Table 2 p.8. CBraMod arXiv 2412.07236 Sec. 3.2 p.7, Tables 13-14 p.26 (TUEV: "16 bipolar montage", notch 60 Hz). LaBraM make_TUEV.py: 23 monopolar channels, notch 50 Hz. Zhou et al. arXiv 2503.00580 Table III p.19.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612648" y="3293316"/>
            <a:ext cx="5509071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  <a:defRPr sz="3600">
                <a:solidFill>
                  <a:srgbClr val="FFCC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7" descr="A black background with white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" y="30146"/>
            <a:ext cx="3794760" cy="133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12647" y="365760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12647" y="1810512"/>
            <a:ext cx="10972800" cy="436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">
  <p:cSld name="Section Divider ">
    <p:bg>
      <p:bgPr>
        <a:solidFill>
          <a:schemeClr val="dk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1"/>
          <p:cNvCxnSpPr/>
          <p:nvPr/>
        </p:nvCxnSpPr>
        <p:spPr>
          <a:xfrm>
            <a:off x="640080" y="4833257"/>
            <a:ext cx="3773731" cy="0"/>
          </a:xfrm>
          <a:prstGeom prst="straightConnector1">
            <a:avLst/>
          </a:prstGeom>
          <a:noFill/>
          <a:ln w="508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" name="Google Shape;2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- Photo w/ Title and Content">
  <p:cSld name="2 Column - Photo w/ Title and Content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>
            <a:spLocks noGrp="1"/>
          </p:cNvSpPr>
          <p:nvPr>
            <p:ph type="pic" idx="2"/>
          </p:nvPr>
        </p:nvSpPr>
        <p:spPr>
          <a:xfrm>
            <a:off x="612648" y="365760"/>
            <a:ext cx="5760720" cy="5674995"/>
          </a:xfrm>
          <a:prstGeom prst="rect">
            <a:avLst/>
          </a:prstGeom>
          <a:noFill/>
          <a:ln>
            <a:noFill/>
          </a:ln>
        </p:spPr>
      </p:sp>
      <p:pic>
        <p:nvPicPr>
          <p:cNvPr id="32" name="Google Shape;3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6562724" y="365760"/>
            <a:ext cx="5016629" cy="76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C00"/>
              </a:buClr>
              <a:buSzPts val="2000"/>
              <a:buNone/>
              <a:defRPr sz="2000">
                <a:solidFill>
                  <a:srgbClr val="FFCC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3"/>
          </p:nvPr>
        </p:nvSpPr>
        <p:spPr>
          <a:xfrm>
            <a:off x="6562724" y="1298448"/>
            <a:ext cx="5016629" cy="47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 descr="A white and red page with text and a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5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4870613" y="-623226"/>
            <a:ext cx="8104451" cy="81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612648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 b="0" i="0" u="none" strike="noStrike" cap="none">
                <a:solidFill>
                  <a:srgbClr val="FFC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1097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ctrTitle"/>
          </p:nvPr>
        </p:nvSpPr>
        <p:spPr>
          <a:xfrm>
            <a:off x="679650" y="2305200"/>
            <a:ext cx="10832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</a:pPr>
            <a:r>
              <a:rPr lang="en-US" sz="4000" b="1" dirty="0">
                <a:latin typeface="Arial"/>
                <a:ea typeface="Arial"/>
                <a:cs typeface="Arial"/>
                <a:sym typeface="Arial"/>
              </a:rPr>
              <a:t>Weekly Meeting: LaBraM Validation</a:t>
            </a:r>
            <a:endParaRPr sz="4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Wooyoung Kim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Media Communication Lab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Experiment Result in the Paper vs. on my end (LaBraM, ICLR 2024)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0" i="0" dirty="0">
                <a:solidFill>
                  <a:srgbClr val="FFFFFF"/>
                </a:solidFill>
                <a:latin typeface="Arial"/>
              </a:rPr>
              <a:t>Released run_class_finetuning.py (unmodified) + released LaBraM-Base weights · README recipe · CBraMod’s data and subject splits · 5 seeds (0–4) · Δ = mine −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Test metrics: published LaBraM-Base vs. my reproduction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217920" cy="404164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1143000"/>
                <a:gridCol w="1325880"/>
                <a:gridCol w="1325880"/>
                <a:gridCol w="96012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Mine (5 seeds)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</a:p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CBraMod T3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0.6173 ± 0.0122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0.6098 ± 0.0098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−0.0075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0.4912 ± 0.0192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0.4797 ± 0.0131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−0.0115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Weighted F1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0.6177 ± 0.0141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0.6129 ± 0.0095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−0.0048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</a:p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CBraMod T15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0.4869 ± 0.0085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0.4477 ± 0.0421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−0.0392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Cohen's Kappa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0.3159 ± 0.0154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0.2637 ± 0.0562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−0.0522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Weighted F1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0.4758 ± 0.0103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0.3911 ± 0.0534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−0.0847</a:t>
                      </a:r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</a:p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CBraMod T10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0.9409 ± 0.0079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0.8905 ± 0.0041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−0.0504</a:t>
                      </a:r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*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AUC-PR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0.9798 ± 0.0093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0.9711 ± 0.0089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−0.0087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0.9782 ± 0.0057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0.9664 ± 0.0166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−0.0118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rowSpan="3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</a:p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CBraMod T12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Balanced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0.6909 ± 0.0125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0.6562 ± 0.0397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−0.0346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AUC-PR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0.5999 ± 0.0155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0.6146 ± 0.0793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+0.0147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 vMerge="1"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AUROC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0.7721 ± 0.0093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0.7791 ± 0.0608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+0.0070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086600" y="960120"/>
            <a:ext cx="4709160" cy="44988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0698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1" i="0" dirty="0">
                <a:solidFill>
                  <a:srgbClr val="0B0B0B"/>
                </a:solidFill>
                <a:latin typeface="Arial"/>
              </a:rPr>
              <a:t>Balanced accuracy</a:t>
            </a:r>
            <a:r>
              <a:rPr lang="en-US" sz="1200" b="0" i="0" dirty="0">
                <a:solidFill>
                  <a:srgbClr val="0B0B0B"/>
                </a:solidFill>
                <a:latin typeface="Arial"/>
              </a:rPr>
              <a:t>  (mean ± std, 5 seeds)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178040" y="1325880"/>
          <a:ext cx="4526280" cy="4069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97280" y="56692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1" i="0" dirty="0">
                <a:solidFill>
                  <a:srgbClr val="FFCC00"/>
                </a:solidFill>
                <a:latin typeface="Arial"/>
              </a:rPr>
              <a:t>Takeaway: </a:t>
            </a:r>
            <a:r>
              <a:rPr lang="en-US" sz="1200" b="0" i="0" dirty="0">
                <a:solidFill>
                  <a:srgbClr val="FFFFFF"/>
                </a:solidFill>
                <a:latin typeface="Arial"/>
              </a:rPr>
              <a:t>LaBraM-Base reproduces its published numbers on 10 of 12 metrics (2 significant*); last week CBraMod missed its own paper on 9 of 12 in the same pipeline. The Mumtaz2016 BA gap is shared by all three models I ran through this pipeline.</a:t>
            </a:r>
          </a:p>
          <a:p>
            <a:pPr algn="l">
              <a:spcAft>
                <a:spcPts val="200"/>
              </a:spcAft>
            </a:pPr>
            <a:r>
              <a:rPr lang="en-US" sz="950" b="0" i="0" dirty="0">
                <a:solidFill>
                  <a:srgbClr val="FFFFFF"/>
                </a:solidFill>
                <a:latin typeface="Arial"/>
              </a:rPr>
              <a:t>* Welch t-test against the published mean ± std (n = 5 vs. 5), p &lt; 0.05. “Paper” = LaBraM-Base as reported in the CBraMod paper; LaBraM’s own paper evaluates only TUAB/TUEV/SEED-V/MoBI (access-gated).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How Robust Is the Number? Epoch Selection, Threshold and Seeds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0" i="0" dirty="0">
                <a:solidFill>
                  <a:srgbClr val="FFFFFF"/>
                </a:solidFill>
                <a:latin typeface="Arial"/>
              </a:rPr>
              <a:t>Same 20 runs · validation and test predictions saved for all 50 epochs, so every rule is recomputed without a GPU (code/selection_analysis.py) · test balanced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Test BA under four epoch-selection rules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309360" cy="1645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34440"/>
                <a:gridCol w="1188720"/>
                <a:gridCol w="1143000"/>
                <a:gridCol w="1097280"/>
                <a:gridCol w="1097280"/>
                <a:gridCol w="5486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Reported</a:t>
                      </a:r>
                    </a:p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(best val. κ / AUROC)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Best val. acc.</a:t>
                      </a:r>
                    </a:p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(LaBraM code)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Last epoch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Best test</a:t>
                      </a:r>
                    </a:p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epoch†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0.6098 ± 0.0098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0.6098 ± 0.0098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0.5995 ± 0.0078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0.6161 ± 0.0082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0.6173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0.4477 ± 0.0421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0.4477 ± 0.0421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0.4536 ± 0.0147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0.4847 ± 0.0202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0.4869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0.8905 ± 0.0041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0.8919 ± 0.0030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0.8858 ± 0.0079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0.9078 ± 0.0052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0.9409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0.6562 ± 0.0397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0.6632 ± 0.0988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0.6354 ± 0.0334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0.7215 ± 0.0421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0.6909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312724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900" b="0" i="0" dirty="0">
                <a:solidFill>
                  <a:srgbClr val="FFFFFF"/>
                </a:solidFill>
                <a:latin typeface="Arial"/>
              </a:rPr>
              <a:t>† Picks the epoch with the test labels: not a valid protocol, shown only as an upper bound (it is EEG Conformer’s rule). Mean ± std over 5 seeds.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1188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Seed spread: my runs vs. the published std (BA)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3950208"/>
          <a:ext cx="6309360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1371600"/>
                <a:gridCol w="1463040"/>
                <a:gridCol w="201168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Std (mine)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Std (published)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My 5 seeds, min – max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PhysioNet-MI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0.0098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0.0122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0.601 – 0.623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BCIC-IV-2a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0.0421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0.0085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0.379 – 0.489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Mumtaz2016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0.0041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0.0079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0.884 – 0.895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MentalArithmetic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0.0397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0.0125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0.597 – 0.701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95160" y="9601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What I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325880"/>
            <a:ext cx="48006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5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Clean protocol, robust rule: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validation-only selection; κ and accuracy pick the same epoch in all 10 four-class runs.</a:t>
            </a:r>
          </a:p>
          <a:p>
            <a:pPr algn="l" marL="182880" indent="-182880">
              <a:spcAft>
                <a:spcPts val="5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Test-set selection would add +0.006 to +0.065 BA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, an EEG-Conformer-style inflation.</a:t>
            </a:r>
          </a:p>
          <a:p>
            <a:pPr algn="l" marL="182880" indent="-182880">
              <a:spcAft>
                <a:spcPts val="5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Published ≥ my test-selected bound on 3 of 4 sets: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the gap is the recipe or the pipeline, not the epoch.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1" i="0" dirty="0">
                <a:solidFill>
                  <a:srgbClr val="FFCC00"/>
                </a:solidFill>
                <a:latin typeface="Arial"/>
              </a:rPr>
              <a:t>Conclusion: </a:t>
            </a:r>
            <a:r>
              <a:rPr lang="en-US" sz="1200" b="0" i="0" dirty="0">
                <a:solidFill>
                  <a:srgbClr val="FFFFFF"/>
                </a:solidFill>
                <a:latin typeface="Arial"/>
              </a:rPr>
              <a:t>the reported LaBraM-Base number is robust to the reporting rule. What does not reproduce is the published seed spread: mine is 3–5× larger on BCIC-IV-2a and MentalArithmetic.</a:t>
            </a:r>
          </a:p>
        </p:txBody>
      </p:sp>
      <p:sp>
        <p:nvSpPr>
          <p:cNvPr id="20" name="Figure panel"/>
          <p:cNvSpPr/>
          <p:nvPr/>
        </p:nvSpPr>
        <p:spPr>
          <a:xfrm>
            <a:off x="6995160" y="2743200"/>
            <a:ext cx="480060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Epoch figure" descr="fig_epoch_selection_2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807208"/>
            <a:ext cx="4114034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LaBraM’s Own Claims (TUAB, TUEV): What Can and Cannot Be Checked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0" i="0" dirty="0">
                <a:solidFill>
                  <a:srgbClr val="FFFFFF"/>
                </a:solidFill>
                <a:latin typeface="Arial"/>
              </a:rPr>
              <a:t>TUAB/TUEV need TUH registration (not run on my end yet) · evidence: the paper, the released code, its GitHub issues and two independent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LaBraM-Base on its own benchmarks: paper vs. re-runs (BA)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309360" cy="138988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783080"/>
                <a:gridCol w="1143000"/>
                <a:gridCol w="1234440"/>
                <a:gridCol w="214884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TUAB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TUEV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LaBraM paper, Tables 1–2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0.8140 ± 0.0019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0.6409 ± 0.0065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own pipeline, 5 seeds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EEG-FM-Bench 2025, T2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0.7950 ± 0.0081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0.5958 ± 0.0431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released ckpt, matched protocol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AdaBrain-Bench 2025, T2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0.8150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0.5905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released ckpt, cross-subject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2715768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900" b="0" i="0" dirty="0">
                <a:solidFill>
                  <a:srgbClr val="FFFFFF"/>
                </a:solidFill>
                <a:latin typeface="Arial"/>
              </a:rPr>
              <a:t>The benchmarks use their own preprocessing and splits: supporting evidence, not a controlled reproduction.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0896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Where the rows of LaBraM’s Tables 1–2 come from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11480" y="3447288"/>
          <a:ext cx="6309360" cy="15544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28800"/>
                <a:gridCol w="448056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Row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SPaRCNet … ST-Transformer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Copied from BIOT App. Tables 4–5 (BIOT’s re-implementations, 16-ch bipolar)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BIOT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Best of BIOT’s 4 TUAB / 13 TUEV variants (“we choose the best results”)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LaBraM-Base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LaBraM’s runs on 23 monopolar channels, 50 Hz notch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LaBraM-Large / -Huge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Weights not released (“commercial reasons”, issue #3)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95160" y="9601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Issues found in the paper and the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325880"/>
            <a:ext cx="4800600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Checkpoint rule ≠ paper: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the paper monitors AUROC / κ (Sec. 3.2); the code keeps the best validation accuracy (lines 499–505).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Single-GPU runs never reshuffle: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DistributedSampler is always on, but set_epoch() runs only for a distributed launch (lines 258, 476).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50 Hz notch on US (60 Hz) TUH data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in make_TUAB.py / make_TUEV.py (issue #67, closed, no reply).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TUEV windows likely duplicated: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one sample per annotation row, and rows are per channel (issue #46, open; not verifiable without TUH).</a:t>
            </a:r>
          </a:p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Seeds not reported;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the README command runs --seed 0 only.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1" i="0" dirty="0">
                <a:solidFill>
                  <a:srgbClr val="FFCC00"/>
                </a:solidFill>
                <a:latin typeface="Arial"/>
              </a:rPr>
              <a:t>Conclusion: </a:t>
            </a:r>
            <a:r>
              <a:rPr lang="en-US" sz="1200" b="0" i="0" dirty="0">
                <a:solidFill>
                  <a:srgbClr val="FFFFFF"/>
                </a:solidFill>
                <a:latin typeface="Arial"/>
              </a:rPr>
              <a:t>LaBraM-Base is a sound baseline, but its headline comparison uses copied BIOT numbers from a different montage, Large/Huge cannot be checked, and both independent re-runs put its TUEV score about 0.05 BA lower.</a:t>
            </a:r>
          </a:p>
        </p:txBody>
      </p:sp>
      <p:sp>
        <p:nvSpPr>
          <p:cNvPr id="20" name="TUEV callout panel"/>
          <p:cNvSpPr/>
          <p:nvPr/>
        </p:nvSpPr>
        <p:spPr>
          <a:xfrm>
            <a:off x="6995160" y="3657600"/>
            <a:ext cx="4800600" cy="13898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UEV callout"/>
          <p:cNvSpPr txBox="1"/>
          <p:nvPr/>
        </p:nvSpPr>
        <p:spPr>
          <a:xfrm>
            <a:off x="7223760" y="3785615"/>
            <a:ext cx="4343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00" b="0" i="0" dirty="0">
                <a:solidFill>
                  <a:srgbClr val="52514E"/>
                </a:solidFill>
                <a:latin typeface="Arial"/>
              </a:rPr>
              <a:t>LaBraM-Base, TUEV balanced accuracy</a:t>
            </a:r>
          </a:p>
          <a:p>
            <a:pPr algn="l">
              <a:spcAft>
                <a:spcPts val="300"/>
              </a:spcAft>
            </a:pPr>
            <a:r>
              <a:rPr lang="en-US" sz="3000" b="1" i="0" dirty="0">
                <a:solidFill>
                  <a:srgbClr val="990000"/>
                </a:solidFill>
                <a:latin typeface="Arial"/>
              </a:rPr>
              <a:t>0.641  →  0.59–0.60</a:t>
            </a:r>
          </a:p>
          <a:p>
            <a:pPr algn="l">
              <a:spcAft>
                <a:spcPts val="200"/>
              </a:spcAft>
            </a:pPr>
            <a:r>
              <a:rPr lang="en-US" sz="1050" b="0" i="0" dirty="0">
                <a:solidFill>
                  <a:srgbClr val="0B0B0B"/>
                </a:solidFill>
                <a:latin typeface="Arial"/>
              </a:rPr>
              <a:t>Paper (Table 2) vs. both independent re-runs from the released checkpoint. TUAB holds up better: 0.814 vs. 0.795 / 0.815.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Review Papers: Do They Re-run Methods or Cite Their Numbers?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0" i="0" dirty="0">
                <a:solidFill>
                  <a:srgbClr val="FFFFFF"/>
                </a:solidFill>
                <a:latin typeface="Arial"/>
              </a:rPr>
              <a:t>21 papers read in full · every verdict backed by a quote with page / table · details and links: docs/literature/review-papers-reproduction-vs-citation.md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9601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Reviews &amp; surveys: all cite, none re-runs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298448"/>
          <a:ext cx="6309360" cy="268833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08760"/>
                <a:gridCol w="233172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Where its numbers come from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Proof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Roy et al. 2019, JNE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Meta-analysis of 156 papers’ self-reported gains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Fig. 14; p. 28 “might be biased positively”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Zhang et al. 2021, JNE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Accuracies quoted from each paper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p. 7 “achieved an accuracy of 86%”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Gu et al. 2021, TCBB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Accuracies quoted from each paper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p. 11 “accuracy rate of 97.37%”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Kuruppu et al. 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Reported scores, some read off plots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Fig. 3; Suppl. T2 “estimated based on the graphics”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Zhou et al. 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LaBraM / NeuroLM rows copied; BA shown as “ACC”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Table III (p. 19)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Lai et al. 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No numbers: results “incomparable”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p. 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1480" y="406908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900" b="0" i="0" dirty="0">
                <a:solidFill>
                  <a:srgbClr val="FFFFFF"/>
                </a:solidFill>
                <a:latin typeface="Arial"/>
              </a:rPr>
              <a:t>Paywalled, not classified: Craik 2019, Lotte 2018, Yao 2025 (JNE), Altaheri 2023 (NCA). Method papers: BIOT re-implements its baselines; LaBraM and NeuroLM copy; CBraMod mixes both in one table, unmarked.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9601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400" b="1" i="0" dirty="0">
                <a:solidFill>
                  <a:srgbClr val="FFCC00"/>
                </a:solidFill>
                <a:latin typeface="Arial"/>
              </a:rPr>
              <a:t>Benchmarks: all re-run, none checks claims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95160" y="1298448"/>
          <a:ext cx="4800600" cy="263347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9164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Benchmark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FFFFFF"/>
                          </a:solidFill>
                          <a:latin typeface="Arial"/>
                        </a:rPr>
                        <a:t>What was re-run</a:t>
                      </a:r>
                    </a:p>
                  </a:txBody>
                  <a:tcPr anchor="ctr" marL="45720" marR="45720" marT="18288" marB="18288">
                    <a:solidFill>
                      <a:srgbClr val="3F3F3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MOABB 2018 / 2024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30 pipelines re-implemented, 36 datasets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Gemein 2020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Own runs + cited literature, labelled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Rommel 2022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13 augmentations, one protocol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Lee 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LaBraM 0.742 vs. EEGNet 0.731 acc.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AdaBrain-Bench 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LaBraM 64.61 &gt; CBraMod 62.66 (avg.)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EEG-FM-Bench 2025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7 FMs, released checkpoints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EEG-Bench, Brain4FMs,</a:t>
                      </a:r>
                    </a:p>
                    <a:p>
                      <a:pPr algn="l"/>
                      <a:r>
                        <a:rPr lang="en-US" sz="1000" b="1" i="0" dirty="0">
                          <a:solidFill>
                            <a:srgbClr val="0B0B0B"/>
                          </a:solidFill>
                          <a:latin typeface="Arial"/>
                        </a:rPr>
                        <a:t>OmniEEG-Bench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0B0B0B"/>
                          </a:solidFill>
                          <a:latin typeface="Arial"/>
                        </a:rPr>
                        <a:t>Released weights, one pipeline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995160" y="4160520"/>
            <a:ext cx="4800600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82880" indent="-182880">
              <a:spcAft>
                <a:spcPts val="700"/>
              </a:spcAft>
              <a:buClr>
                <a:srgbClr val="FFCC00"/>
              </a:buClr>
              <a:buFont typeface="Arial"/>
              <a:buChar char="•"/>
            </a:pPr>
            <a:r>
              <a:rPr lang="en-US" sz="1150" b="1" i="0" dirty="0">
                <a:solidFill>
                  <a:srgbClr val="FFFFFF"/>
                </a:solidFill>
                <a:latin typeface="Arial"/>
              </a:rPr>
              <a:t>0 of 10 benchmarks </a:t>
            </a:r>
            <a:r>
              <a:rPr lang="en-US" sz="1150" b="0" i="0" dirty="0">
                <a:solidFill>
                  <a:srgbClr val="FFFFFF"/>
                </a:solidFill>
                <a:latin typeface="Arial"/>
              </a:rPr>
              <a:t>put a method’s re-run number next to the number its own paper reports; they rank models instead.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1" i="0" dirty="0">
                <a:solidFill>
                  <a:srgbClr val="FFCC00"/>
                </a:solidFill>
                <a:latin typeface="Arial"/>
              </a:rPr>
              <a:t>Takeaway: </a:t>
            </a:r>
            <a:r>
              <a:rPr lang="en-US" sz="1200" b="0" i="0" dirty="0">
                <a:solidFill>
                  <a:srgbClr val="FFFFFF"/>
                </a:solidFill>
                <a:latin typeface="Arial"/>
              </a:rPr>
              <a:t>reviews cite and benchmarks re-run, but nobody sets the re-run number against the paper’s own claim. That paper-vs-re-run column is what our review adds.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11795760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Citation Chain: One Set of TUAB/TUEV Numbers Through Five Papers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3736" y="566928"/>
            <a:ext cx="1179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0" i="0" dirty="0">
                <a:solidFill>
                  <a:srgbClr val="FFFFFF"/>
                </a:solidFill>
                <a:latin typeface="Arial"/>
              </a:rPr>
              <a:t>Same digits downstream: SPaRCNet TUEV 0.4161 ± 0.0262 (BIOT → CBraMod), LaBraM-Base TUEV 0.6409 ± 0.0065 (LaBraM → Zhou et al.)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806440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00" b="1" i="0" dirty="0">
                <a:solidFill>
                  <a:srgbClr val="FFCC00"/>
                </a:solidFill>
                <a:latin typeface="Arial"/>
              </a:rPr>
              <a:t>Takeaway: </a:t>
            </a:r>
            <a:r>
              <a:rPr lang="en-US" sz="1200" b="0" i="0" dirty="0">
                <a:solidFill>
                  <a:srgbClr val="FFFFFF"/>
                </a:solidFill>
                <a:latin typeface="Arial"/>
              </a:rPr>
              <a:t>copied numbers travel without a label. Our tables will mark every number as either re-run by us or cited, with the source paper and table.</a:t>
            </a:r>
          </a:p>
        </p:txBody>
      </p:sp>
      <p:sp>
        <p:nvSpPr>
          <p:cNvPr id="20" name="Chain box 1"/>
          <p:cNvSpPr/>
          <p:nvPr/>
        </p:nvSpPr>
        <p:spPr>
          <a:xfrm>
            <a:off x="411480" y="1143000"/>
            <a:ext cx="1938528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Chain title 1"/>
          <p:cNvSpPr txBox="1"/>
          <p:nvPr/>
        </p:nvSpPr>
        <p:spPr>
          <a:xfrm>
            <a:off x="548640" y="128016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0B0B0B"/>
                </a:solidFill>
                <a:latin typeface="Arial"/>
              </a:rPr>
              <a:t>BIOT</a:t>
            </a:r>
          </a:p>
          <a:p>
            <a:pPr algn="l">
              <a:spcAft>
                <a:spcPts val="200"/>
              </a:spcAft>
            </a:pPr>
            <a:r>
              <a:rPr lang="en-US" sz="1000" b="0" i="0" dirty="0">
                <a:solidFill>
                  <a:srgbClr val="52514E"/>
                </a:solidFill>
                <a:latin typeface="Arial"/>
              </a:rPr>
              <a:t>NeurIPS 2023</a:t>
            </a:r>
          </a:p>
        </p:txBody>
      </p:sp>
      <p:sp>
        <p:nvSpPr>
          <p:cNvPr id="22" name="Chain tag 1"/>
          <p:cNvSpPr/>
          <p:nvPr/>
        </p:nvSpPr>
        <p:spPr>
          <a:xfrm>
            <a:off x="548640" y="1920240"/>
            <a:ext cx="777240" cy="237744"/>
          </a:xfrm>
          <a:prstGeom prst="roundRect">
            <a:avLst>
              <a:gd name="adj" fmla="val 50000"/>
            </a:avLst>
          </a:prstGeom>
          <a:solidFill>
            <a:srgbClr val="3F3F3F"/>
          </a:solidFill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lang="en-US" sz="900" b="1" i="0" dirty="0">
                <a:solidFill>
                  <a:srgbClr val="FFFFFF"/>
                </a:solidFill>
                <a:latin typeface="Arial"/>
              </a:rPr>
              <a:t>RE-RUN</a:t>
            </a:r>
          </a:p>
        </p:txBody>
      </p:sp>
      <p:sp>
        <p:nvSpPr>
          <p:cNvPr id="23" name="Chain text 1"/>
          <p:cNvSpPr txBox="1"/>
          <p:nvPr/>
        </p:nvSpPr>
        <p:spPr>
          <a:xfrm>
            <a:off x="548640" y="2286000"/>
            <a:ext cx="1664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00" b="0" i="0" dirty="0">
                <a:solidFill>
                  <a:srgbClr val="0B0B0B"/>
                </a:solidFill>
                <a:latin typeface="Arial"/>
              </a:rPr>
              <a:t>Re-implements 5 baselines on TUAB / TUEV (16-ch bipolar), 5 seeds.</a:t>
            </a:r>
          </a:p>
        </p:txBody>
      </p:sp>
      <p:sp>
        <p:nvSpPr>
          <p:cNvPr id="24" name="Chain proof 1"/>
          <p:cNvSpPr txBox="1"/>
          <p:nvPr/>
        </p:nvSpPr>
        <p:spPr>
          <a:xfrm>
            <a:off x="548640" y="3474720"/>
            <a:ext cx="1664208" cy="4114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200"/>
              </a:spcAft>
            </a:pPr>
            <a:r>
              <a:rPr lang="en-US" sz="950" b="1" i="0" dirty="0">
                <a:solidFill>
                  <a:srgbClr val="52514E"/>
                </a:solidFill>
                <a:latin typeface="Arial"/>
              </a:rPr>
              <a:t>Proof: </a:t>
            </a:r>
            <a:r>
              <a:rPr lang="en-US" sz="950" b="0" i="0" dirty="0">
                <a:solidFill>
                  <a:srgbClr val="52514E"/>
                </a:solidFill>
                <a:latin typeface="Arial"/>
              </a:rPr>
              <a:t>App. A.2; Tables 4–5</a:t>
            </a:r>
          </a:p>
        </p:txBody>
      </p:sp>
      <p:sp>
        <p:nvSpPr>
          <p:cNvPr id="25" name="Chain arrow 1"/>
          <p:cNvSpPr/>
          <p:nvPr/>
        </p:nvSpPr>
        <p:spPr>
          <a:xfrm>
            <a:off x="2423160" y="2446020"/>
            <a:ext cx="265176" cy="274320"/>
          </a:xfrm>
          <a:prstGeom prst="rightArrow">
            <a:avLst>
              <a:gd name="adj1" fmla="val 42000"/>
              <a:gd name="adj2" fmla="val 60000"/>
            </a:avLst>
          </a:prstGeom>
          <a:solidFill>
            <a:srgbClr val="FFC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Chain box 2"/>
          <p:cNvSpPr/>
          <p:nvPr/>
        </p:nvSpPr>
        <p:spPr>
          <a:xfrm>
            <a:off x="2761488" y="1143000"/>
            <a:ext cx="1938528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hain title 2"/>
          <p:cNvSpPr txBox="1"/>
          <p:nvPr/>
        </p:nvSpPr>
        <p:spPr>
          <a:xfrm>
            <a:off x="2898648" y="128016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0B0B0B"/>
                </a:solidFill>
                <a:latin typeface="Arial"/>
              </a:rPr>
              <a:t>LaBraM</a:t>
            </a:r>
          </a:p>
          <a:p>
            <a:pPr algn="l">
              <a:spcAft>
                <a:spcPts val="200"/>
              </a:spcAft>
            </a:pPr>
            <a:r>
              <a:rPr lang="en-US" sz="1000" b="0" i="0" dirty="0">
                <a:solidFill>
                  <a:srgbClr val="52514E"/>
                </a:solidFill>
                <a:latin typeface="Arial"/>
              </a:rPr>
              <a:t>ICLR 2024</a:t>
            </a:r>
          </a:p>
        </p:txBody>
      </p:sp>
      <p:sp>
        <p:nvSpPr>
          <p:cNvPr id="28" name="Chain tag 2"/>
          <p:cNvSpPr/>
          <p:nvPr/>
        </p:nvSpPr>
        <p:spPr>
          <a:xfrm>
            <a:off x="2898648" y="192024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lang="en-US" sz="900" b="1" i="0" dirty="0">
                <a:solidFill>
                  <a:srgbClr val="0B0B0B"/>
                </a:solidFill>
                <a:latin typeface="Arial"/>
              </a:rPr>
              <a:t>COPIED</a:t>
            </a:r>
          </a:p>
        </p:txBody>
      </p:sp>
      <p:sp>
        <p:nvSpPr>
          <p:cNvPr id="29" name="Chain text 2"/>
          <p:cNvSpPr txBox="1"/>
          <p:nvPr/>
        </p:nvSpPr>
        <p:spPr>
          <a:xfrm>
            <a:off x="2898648" y="2286000"/>
            <a:ext cx="1664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00" b="0" i="0" dirty="0">
                <a:solidFill>
                  <a:srgbClr val="0B0B0B"/>
                </a:solidFill>
                <a:latin typeface="Arial"/>
              </a:rPr>
              <a:t>Copies every baseline row; BIOT row = best of 4 / 13 variants; adds Base, Large, Huge.</a:t>
            </a:r>
          </a:p>
        </p:txBody>
      </p:sp>
      <p:sp>
        <p:nvSpPr>
          <p:cNvPr id="30" name="Chain proof 2"/>
          <p:cNvSpPr txBox="1"/>
          <p:nvPr/>
        </p:nvSpPr>
        <p:spPr>
          <a:xfrm>
            <a:off x="2898648" y="3474720"/>
            <a:ext cx="1664208" cy="4114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200"/>
              </a:spcAft>
            </a:pPr>
            <a:r>
              <a:rPr lang="en-US" sz="950" b="1" i="0" dirty="0">
                <a:solidFill>
                  <a:srgbClr val="52514E"/>
                </a:solidFill>
                <a:latin typeface="Arial"/>
              </a:rPr>
              <a:t>Proof: </a:t>
            </a:r>
            <a:r>
              <a:rPr lang="en-US" sz="950" b="0" i="0" dirty="0">
                <a:solidFill>
                  <a:srgbClr val="52514E"/>
                </a:solidFill>
                <a:latin typeface="Arial"/>
              </a:rPr>
              <a:t>Sec. 3.2 “we choose the best results”; T1–2</a:t>
            </a:r>
          </a:p>
        </p:txBody>
      </p:sp>
      <p:sp>
        <p:nvSpPr>
          <p:cNvPr id="31" name="Chain arrow 2"/>
          <p:cNvSpPr/>
          <p:nvPr/>
        </p:nvSpPr>
        <p:spPr>
          <a:xfrm>
            <a:off x="4773168" y="2446020"/>
            <a:ext cx="265176" cy="274320"/>
          </a:xfrm>
          <a:prstGeom prst="rightArrow">
            <a:avLst>
              <a:gd name="adj1" fmla="val 42000"/>
              <a:gd name="adj2" fmla="val 60000"/>
            </a:avLst>
          </a:prstGeom>
          <a:solidFill>
            <a:srgbClr val="FFC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Chain box 3"/>
          <p:cNvSpPr/>
          <p:nvPr/>
        </p:nvSpPr>
        <p:spPr>
          <a:xfrm>
            <a:off x="5111496" y="1143000"/>
            <a:ext cx="1938528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hain title 3"/>
          <p:cNvSpPr txBox="1"/>
          <p:nvPr/>
        </p:nvSpPr>
        <p:spPr>
          <a:xfrm>
            <a:off x="5248656" y="128016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0B0B0B"/>
                </a:solidFill>
                <a:latin typeface="Arial"/>
              </a:rPr>
              <a:t>NeuroLM</a:t>
            </a:r>
          </a:p>
          <a:p>
            <a:pPr algn="l">
              <a:spcAft>
                <a:spcPts val="200"/>
              </a:spcAft>
            </a:pPr>
            <a:r>
              <a:rPr lang="en-US" sz="1000" b="0" i="0" dirty="0">
                <a:solidFill>
                  <a:srgbClr val="52514E"/>
                </a:solidFill>
                <a:latin typeface="Arial"/>
              </a:rPr>
              <a:t>ICLR 2025</a:t>
            </a:r>
          </a:p>
        </p:txBody>
      </p:sp>
      <p:sp>
        <p:nvSpPr>
          <p:cNvPr id="34" name="Chain tag 3"/>
          <p:cNvSpPr/>
          <p:nvPr/>
        </p:nvSpPr>
        <p:spPr>
          <a:xfrm>
            <a:off x="5248656" y="192024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lang="en-US" sz="900" b="1" i="0" dirty="0">
                <a:solidFill>
                  <a:srgbClr val="0B0B0B"/>
                </a:solidFill>
                <a:latin typeface="Arial"/>
              </a:rPr>
              <a:t>COPIED</a:t>
            </a:r>
          </a:p>
        </p:txBody>
      </p:sp>
      <p:sp>
        <p:nvSpPr>
          <p:cNvPr id="35" name="Chain text 3"/>
          <p:cNvSpPr txBox="1"/>
          <p:nvPr/>
        </p:nvSpPr>
        <p:spPr>
          <a:xfrm>
            <a:off x="5248656" y="2286000"/>
            <a:ext cx="1664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00" b="0" i="0" dirty="0">
                <a:solidFill>
                  <a:srgbClr val="0B0B0B"/>
                </a:solidFill>
                <a:latin typeface="Arial"/>
              </a:rPr>
              <a:t>Reprints LaBraM’s rows; says its results use three seeds (LaBraM’s are five).</a:t>
            </a:r>
          </a:p>
        </p:txBody>
      </p:sp>
      <p:sp>
        <p:nvSpPr>
          <p:cNvPr id="36" name="Chain proof 3"/>
          <p:cNvSpPr txBox="1"/>
          <p:nvPr/>
        </p:nvSpPr>
        <p:spPr>
          <a:xfrm>
            <a:off x="5248656" y="3474720"/>
            <a:ext cx="1664208" cy="4114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200"/>
              </a:spcAft>
            </a:pPr>
            <a:r>
              <a:rPr lang="en-US" sz="950" b="1" i="0" dirty="0">
                <a:solidFill>
                  <a:srgbClr val="52514E"/>
                </a:solidFill>
                <a:latin typeface="Arial"/>
              </a:rPr>
              <a:t>Proof: </a:t>
            </a:r>
            <a:r>
              <a:rPr lang="en-US" sz="950" b="0" i="0" dirty="0">
                <a:solidFill>
                  <a:srgbClr val="52514E"/>
                </a:solidFill>
                <a:latin typeface="Arial"/>
              </a:rPr>
              <a:t>p. 7; Table 2</a:t>
            </a:r>
          </a:p>
        </p:txBody>
      </p:sp>
      <p:sp>
        <p:nvSpPr>
          <p:cNvPr id="37" name="Chain arrow 3"/>
          <p:cNvSpPr/>
          <p:nvPr/>
        </p:nvSpPr>
        <p:spPr>
          <a:xfrm>
            <a:off x="7123176" y="2446020"/>
            <a:ext cx="265176" cy="274320"/>
          </a:xfrm>
          <a:prstGeom prst="rightArrow">
            <a:avLst>
              <a:gd name="adj1" fmla="val 42000"/>
              <a:gd name="adj2" fmla="val 60000"/>
            </a:avLst>
          </a:prstGeom>
          <a:solidFill>
            <a:srgbClr val="FFC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Chain box 4"/>
          <p:cNvSpPr/>
          <p:nvPr/>
        </p:nvSpPr>
        <p:spPr>
          <a:xfrm>
            <a:off x="7461504" y="1143000"/>
            <a:ext cx="1938528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hain title 4"/>
          <p:cNvSpPr txBox="1"/>
          <p:nvPr/>
        </p:nvSpPr>
        <p:spPr>
          <a:xfrm>
            <a:off x="7598664" y="128016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0B0B0B"/>
                </a:solidFill>
                <a:latin typeface="Arial"/>
              </a:rPr>
              <a:t>CBraMod</a:t>
            </a:r>
          </a:p>
          <a:p>
            <a:pPr algn="l">
              <a:spcAft>
                <a:spcPts val="200"/>
              </a:spcAft>
            </a:pPr>
            <a:r>
              <a:rPr lang="en-US" sz="1000" b="0" i="0" dirty="0">
                <a:solidFill>
                  <a:srgbClr val="52514E"/>
                </a:solidFill>
                <a:latin typeface="Arial"/>
              </a:rPr>
              <a:t>ICLR 2025</a:t>
            </a:r>
          </a:p>
        </p:txBody>
      </p:sp>
      <p:sp>
        <p:nvSpPr>
          <p:cNvPr id="40" name="Chain tag 4"/>
          <p:cNvSpPr/>
          <p:nvPr/>
        </p:nvSpPr>
        <p:spPr>
          <a:xfrm>
            <a:off x="7598664" y="192024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lang="en-US" sz="900" b="1" i="0" dirty="0">
                <a:solidFill>
                  <a:srgbClr val="0B0B0B"/>
                </a:solidFill>
                <a:latin typeface="Arial"/>
              </a:rPr>
              <a:t>COPIED</a:t>
            </a:r>
          </a:p>
        </p:txBody>
      </p:sp>
      <p:sp>
        <p:nvSpPr>
          <p:cNvPr id="41" name="Chain text 4"/>
          <p:cNvSpPr txBox="1"/>
          <p:nvPr/>
        </p:nvSpPr>
        <p:spPr>
          <a:xfrm>
            <a:off x="7598664" y="2286000"/>
            <a:ext cx="1664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00" b="0" i="0" dirty="0">
                <a:solidFill>
                  <a:srgbClr val="0B0B0B"/>
                </a:solidFill>
                <a:latin typeface="Arial"/>
              </a:rPr>
              <a:t>Reprints 9 rows incl. Large/Huge next to its own TUEV runs on 16 bipolar ch, 60 Hz (LaBraM: 23 monopolar, 50 Hz).</a:t>
            </a:r>
          </a:p>
        </p:txBody>
      </p:sp>
      <p:sp>
        <p:nvSpPr>
          <p:cNvPr id="42" name="Chain proof 4"/>
          <p:cNvSpPr txBox="1"/>
          <p:nvPr/>
        </p:nvSpPr>
        <p:spPr>
          <a:xfrm>
            <a:off x="7598664" y="3474720"/>
            <a:ext cx="1664208" cy="4114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200"/>
              </a:spcAft>
            </a:pPr>
            <a:r>
              <a:rPr lang="en-US" sz="950" b="1" i="0" dirty="0">
                <a:solidFill>
                  <a:srgbClr val="52514E"/>
                </a:solidFill>
                <a:latin typeface="Arial"/>
              </a:rPr>
              <a:t>Proof: </a:t>
            </a:r>
            <a:r>
              <a:rPr lang="en-US" sz="950" b="0" i="0" dirty="0">
                <a:solidFill>
                  <a:srgbClr val="52514E"/>
                </a:solidFill>
                <a:latin typeface="Arial"/>
              </a:rPr>
              <a:t>Tables 13–14</a:t>
            </a:r>
          </a:p>
        </p:txBody>
      </p:sp>
      <p:sp>
        <p:nvSpPr>
          <p:cNvPr id="43" name="Chain arrow 4"/>
          <p:cNvSpPr/>
          <p:nvPr/>
        </p:nvSpPr>
        <p:spPr>
          <a:xfrm>
            <a:off x="9473184" y="2446020"/>
            <a:ext cx="265176" cy="274320"/>
          </a:xfrm>
          <a:prstGeom prst="rightArrow">
            <a:avLst>
              <a:gd name="adj1" fmla="val 42000"/>
              <a:gd name="adj2" fmla="val 60000"/>
            </a:avLst>
          </a:prstGeom>
          <a:solidFill>
            <a:srgbClr val="FFCC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Chain box 5"/>
          <p:cNvSpPr/>
          <p:nvPr/>
        </p:nvSpPr>
        <p:spPr>
          <a:xfrm>
            <a:off x="9811512" y="1143000"/>
            <a:ext cx="1938528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hain title 5"/>
          <p:cNvSpPr txBox="1"/>
          <p:nvPr/>
        </p:nvSpPr>
        <p:spPr>
          <a:xfrm>
            <a:off x="9948672" y="1280160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400" b="1" i="0" dirty="0">
                <a:solidFill>
                  <a:srgbClr val="0B0B0B"/>
                </a:solidFill>
                <a:latin typeface="Arial"/>
              </a:rPr>
              <a:t>Zhou et al.</a:t>
            </a:r>
          </a:p>
          <a:p>
            <a:pPr algn="l">
              <a:spcAft>
                <a:spcPts val="200"/>
              </a:spcAft>
            </a:pPr>
            <a:r>
              <a:rPr lang="en-US" sz="1000" b="0" i="0" dirty="0">
                <a:solidFill>
                  <a:srgbClr val="52514E"/>
                </a:solidFill>
                <a:latin typeface="Arial"/>
              </a:rPr>
              <a:t>survey, 2025</a:t>
            </a:r>
          </a:p>
        </p:txBody>
      </p:sp>
      <p:sp>
        <p:nvSpPr>
          <p:cNvPr id="46" name="Chain tag 5"/>
          <p:cNvSpPr/>
          <p:nvPr/>
        </p:nvSpPr>
        <p:spPr>
          <a:xfrm>
            <a:off x="9948672" y="1920240"/>
            <a:ext cx="731520" cy="237744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</p:spPr>
        <p:txBody>
          <a:bodyPr wrap="none" lIns="0" rIns="0" tIns="0" bIns="0" anchor="ctr"/>
          <a:lstStyle/>
          <a:p>
            <a:pPr algn="ctr"/>
            <a:r>
              <a:rPr lang="en-US" sz="900" b="1" i="0" dirty="0">
                <a:solidFill>
                  <a:srgbClr val="0B0B0B"/>
                </a:solidFill>
                <a:latin typeface="Arial"/>
              </a:rPr>
              <a:t>COPIED</a:t>
            </a:r>
          </a:p>
        </p:txBody>
      </p:sp>
      <p:sp>
        <p:nvSpPr>
          <p:cNvPr id="47" name="Chain text 5"/>
          <p:cNvSpPr txBox="1"/>
          <p:nvPr/>
        </p:nvSpPr>
        <p:spPr>
          <a:xfrm>
            <a:off x="9948672" y="2286000"/>
            <a:ext cx="1664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00" b="0" i="0" dirty="0">
                <a:solidFill>
                  <a:srgbClr val="0B0B0B"/>
                </a:solidFill>
                <a:latin typeface="Arial"/>
              </a:rPr>
              <a:t>Reprints LaBraM’s and NeuroLM’s values; balanced accuracy printed as “ACC”.</a:t>
            </a:r>
          </a:p>
        </p:txBody>
      </p:sp>
      <p:sp>
        <p:nvSpPr>
          <p:cNvPr id="48" name="Chain proof 5"/>
          <p:cNvSpPr txBox="1"/>
          <p:nvPr/>
        </p:nvSpPr>
        <p:spPr>
          <a:xfrm>
            <a:off x="9948672" y="3474720"/>
            <a:ext cx="1664208" cy="4114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200"/>
              </a:spcAft>
            </a:pPr>
            <a:r>
              <a:rPr lang="en-US" sz="950" b="1" i="0" dirty="0">
                <a:solidFill>
                  <a:srgbClr val="52514E"/>
                </a:solidFill>
                <a:latin typeface="Arial"/>
              </a:rPr>
              <a:t>Proof: </a:t>
            </a:r>
            <a:r>
              <a:rPr lang="en-US" sz="950" b="0" i="0" dirty="0">
                <a:solidFill>
                  <a:srgbClr val="52514E"/>
                </a:solidFill>
                <a:latin typeface="Arial"/>
              </a:rPr>
              <a:t>Table III</a:t>
            </a:r>
          </a:p>
        </p:txBody>
      </p:sp>
      <p:sp>
        <p:nvSpPr>
          <p:cNvPr id="49" name="Rerun panel"/>
          <p:cNvSpPr/>
          <p:nvPr/>
        </p:nvSpPr>
        <p:spPr>
          <a:xfrm>
            <a:off x="411480" y="4251960"/>
            <a:ext cx="11365992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run text"/>
          <p:cNvSpPr txBox="1"/>
          <p:nvPr/>
        </p:nvSpPr>
        <p:spPr>
          <a:xfrm>
            <a:off x="594360" y="4370832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150" b="1" i="0" dirty="0">
                <a:solidFill>
                  <a:srgbClr val="0B0B0B"/>
                </a:solidFill>
                <a:latin typeface="Arial"/>
              </a:rPr>
              <a:t>Meanwhile, re-run from the released checkpoint: </a:t>
            </a:r>
            <a:r>
              <a:rPr lang="en-US" sz="1150" b="0" i="0" dirty="0">
                <a:solidFill>
                  <a:srgbClr val="0B0B0B"/>
                </a:solidFill>
                <a:latin typeface="Arial"/>
              </a:rPr>
              <a:t>LaBraM-Base TUEV BA 0.596 (EEG-FM-Bench) and 0.591 (AdaBrain-Bench), against the 0.641 copied along this chain. LaBraM-Large / -Huge rows (0.658 / 0.662) cannot be re-run by anyone.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C Powerpoint Template - Red ">
  <a:themeElements>
    <a:clrScheme name="Custom 51">
      <a:dk1>
        <a:srgbClr val="990000"/>
      </a:dk1>
      <a:lt1>
        <a:srgbClr val="FFFFFF"/>
      </a:lt1>
      <a:dk2>
        <a:srgbClr val="445469"/>
      </a:dk2>
      <a:lt2>
        <a:srgbClr val="E7E6E6"/>
      </a:lt2>
      <a:accent1>
        <a:srgbClr val="991B1E"/>
      </a:accent1>
      <a:accent2>
        <a:srgbClr val="FFCC00"/>
      </a:accent2>
      <a:accent3>
        <a:srgbClr val="939598"/>
      </a:accent3>
      <a:accent4>
        <a:srgbClr val="CCCCCC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117</Words>
  <Application>Microsoft Macintosh PowerPoint</Application>
  <PresentationFormat>Widescreen</PresentationFormat>
  <Paragraphs>62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1_Custom Design</vt:lpstr>
      <vt:lpstr>USC Powerpoint Template - Red </vt:lpstr>
      <vt:lpstr>Weekly Meeting: EEG Conformer Validation </vt:lpstr>
      <vt:lpstr>Experiment Result in the Paper (https://ieeexplore.ieee.org/stamp/stamp.jsp?tp=&amp;arnumber=9991178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Molleda</dc:creator>
  <cp:lastModifiedBy>Wooyoung Kim</cp:lastModifiedBy>
  <cp:revision>6</cp:revision>
  <dcterms:created xsi:type="dcterms:W3CDTF">2018-10-15T18:11:54Z</dcterms:created>
  <dcterms:modified xsi:type="dcterms:W3CDTF">2026-09-28T08:52:41Z</dcterms:modified>
  <dc:title>Weekly Meeting: LaBraM Validation</dc:title>
</cp:coreProperties>
</file>