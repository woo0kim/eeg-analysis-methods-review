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6"/>
  </p:notesMasterIdLst>
  <p:sldIdLst>
    <p:sldId id="256" r:id="rId3"/>
    <p:sldId id="257" r:id="rId4"/>
    <p:sldId id="265" r:id="rId22"/>
    <p:sldId id="266" r:id="rId23"/>
    <p:sldId id="264" r:id="rId5"/>
  </p:sldIdLst>
  <p:sldSz cx="12192000" cy="6858000"/>
  <p:notesSz cx="6858000" cy="9144000"/>
  <p:embeddedFontLst>
    <p:embeddedFont>
      <p:font typeface="Arial Black" panose="020B0604020202020204" pitchFamily="34" charset="0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uYUOm1tEe4s/X244UACjsvSwO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5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3.xml"/><Relationship Id="rId23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Paper: CBraMod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0.0091</c:v>
                </c:pt>
                <c:pt idx="1">
                  <c:v>0.0066</c:v>
                </c:pt>
                <c:pt idx="2">
                  <c:v>0.0056</c:v>
                </c:pt>
                <c:pt idx="3">
                  <c:v>0.0132</c:v>
                </c:pt>
              </c:numLit>
            </c:plus>
            <c:minus>
              <c:numLit>
                <c:formatCode>General</c:formatCode>
                <c:ptCount val="4"/>
                <c:pt idx="0">
                  <c:v>0.0091</c:v>
                </c:pt>
                <c:pt idx="1">
                  <c:v>0.0066</c:v>
                </c:pt>
                <c:pt idx="2">
                  <c:v>0.0056</c:v>
                </c:pt>
                <c:pt idx="3">
                  <c:v>0.0132</c:v>
                </c:pt>
              </c:numLit>
            </c:minus>
            <c:spPr>
              <a:ln w="12700">
                <a:solidFill>
                  <a:srgbClr val="0B0B0B"/>
                </a:solidFill>
              </a:ln>
            </c:spPr>
          </c:errBars>
          <c:cat>
            <c:strRef>
              <c:f>Sheet1!$A$2:$A$5</c:f>
              <c:strCache>
                <c:ptCount val="4"/>
                <c:pt idx="0">
                  <c:v>PhysioNet-MI</c:v>
                </c:pt>
                <c:pt idx="1">
                  <c:v>BCIC-IV-2a</c:v>
                </c:pt>
                <c:pt idx="2">
                  <c:v>Mumtaz2016</c:v>
                </c:pt>
                <c:pt idx="3">
                  <c:v>MentalArithmetic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0.6417</c:v>
                </c:pt>
                <c:pt idx="1">
                  <c:v>0.5138</c:v>
                </c:pt>
                <c:pt idx="2">
                  <c:v>0.956</c:v>
                </c:pt>
                <c:pt idx="3">
                  <c:v>0.7256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Mine: CBraMod (released code)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sz="900" b="1">
                    <a:solidFill>
                      <a:srgbClr val="0B0B0B"/>
                    </a:solidFill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errBars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0.0054</c:v>
                </c:pt>
                <c:pt idx="1">
                  <c:v>0.0399</c:v>
                </c:pt>
                <c:pt idx="2">
                  <c:v>0.0101</c:v>
                </c:pt>
                <c:pt idx="3">
                  <c:v>0.0209</c:v>
                </c:pt>
              </c:numLit>
            </c:plus>
            <c:minus>
              <c:numLit>
                <c:formatCode>General</c:formatCode>
                <c:ptCount val="4"/>
                <c:pt idx="0">
                  <c:v>0.0054</c:v>
                </c:pt>
                <c:pt idx="1">
                  <c:v>0.0399</c:v>
                </c:pt>
                <c:pt idx="2">
                  <c:v>0.0101</c:v>
                </c:pt>
                <c:pt idx="3">
                  <c:v>0.0209</c:v>
                </c:pt>
              </c:numLit>
            </c:minus>
            <c:spPr>
              <a:ln w="12700">
                <a:solidFill>
                  <a:srgbClr val="0B0B0B"/>
                </a:solidFill>
              </a:ln>
            </c:spPr>
          </c:errBars>
          <c:cat>
            <c:strRef>
              <c:f>Sheet1!$A$2:$A$5</c:f>
              <c:strCache>
                <c:ptCount val="4"/>
                <c:pt idx="0">
                  <c:v>PhysioNet-MI</c:v>
                </c:pt>
                <c:pt idx="1">
                  <c:v>BCIC-IV-2a</c:v>
                </c:pt>
                <c:pt idx="2">
                  <c:v>Mumtaz2016</c:v>
                </c:pt>
                <c:pt idx="3">
                  <c:v>MentalArithmetic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0.626488</c:v>
                </c:pt>
                <c:pt idx="1">
                  <c:v>0.457118</c:v>
                </c:pt>
                <c:pt idx="2">
                  <c:v>0.893316</c:v>
                </c:pt>
                <c:pt idx="3">
                  <c:v>0.58889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Paper: LaBraM-Base (best baseline)</c:v>
                </c:pt>
              </c:strCache>
            </c:strRef>
          </c:tx>
          <c:spPr>
            <a:solidFill>
              <a:srgbClr val="4A3AA7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PhysioNet-MI</c:v>
                </c:pt>
                <c:pt idx="1">
                  <c:v>BCIC-IV-2a</c:v>
                </c:pt>
                <c:pt idx="2">
                  <c:v>Mumtaz2016</c:v>
                </c:pt>
                <c:pt idx="3">
                  <c:v>MentalArithmetic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0.6173</c:v>
                </c:pt>
                <c:pt idx="1">
                  <c:v>0.4869</c:v>
                </c:pt>
                <c:pt idx="2">
                  <c:v>0.9409</c:v>
                </c:pt>
                <c:pt idx="3">
                  <c:v>0.6909</c:v>
                </c:pt>
              </c:numCache>
            </c:numRef>
          </c:val>
        </c:ser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0B0B0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2514E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0B0B0B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2514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Setup: released code (commit b9e9610) and released HuggingFace weights, paper fine-tuning setup (Table 6), seeds 0-4, 8x Quadro M6000. Sample counts match Table 1 exactly (9,837 / 5,088 / 7,143 / 1,707).</a:t>
            </a:r>
          </a:p>
          <a:p>
            <a:r>
              <a:t>PhysioNet-MI (main text): −1.5 pts BA, small seed spread, still above LaBraM-Base, both the paper's number and my re-run (slide 4).</a:t>
            </a:r>
          </a:p>
          <a:p>
            <a:r>
              <a:t>BCIC-IV-2a −5.7 pts, Mumtaz2016 −6.3 pts, MentalArithmetic −13.7 pts. BCIC-IV-2a seeds range 0.416-0.513.</a:t>
            </a:r>
          </a:p>
          <a:p>
            <a:r>
              <a:t>Binary datasets: the AUROC gap is much smaller than the BA gap. The code uses a fixed 0.5 threshold and picks the checkpoint by validation AUROC; on MentalArithmetic the chosen epoch is 2-4 of 50 and the model mostly predicts the majority class.</a:t>
            </a:r>
          </a:p>
          <a:p>
            <a:r>
              <a:t>Not testable: FACED (Synapse), SEED-V/SEED-VIG (license), SHU-MI (password-protected), TUAB/TUEV (TUH).</a:t>
            </a:r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Pre-training: +0.0701 Kappa on PhysioNet-MI vs. +0.0228 in Table 4, because my from-scratch model is weaker than the paper's. No gain on BCIC-IV-2a; AUROC gains on the binary sets.</a:t>
            </a:r>
          </a:p>
          <a:p>
            <a:r>
              <a:t>Frozen backbone (Table 18): BA 0.537 vs. 0.385; the 41M-parameter MLP head still trains, so freezing costs ~0.09 BA, not ~0.26.</a:t>
            </a:r>
          </a:p>
          <a:p>
            <a:r>
              <a:t>EEGNet through the identical pipeline reproduces the paper's EEGNet on PhysioNet-MI (pipeline OK), beats CBraMod on BCIC-IV-2a, and shows the same BA shortfall on the binary datasets.</a:t>
            </a:r>
          </a:p>
          <a:p>
            <a:r>
              <a:t>Size/FLOPs: thop ignores nn.MultiheadAttention, so the paper reports 4.0M params (actual 4.88M) and 318.9M FLOPs (actual ~1.6G; paper also used MACs/2). Default classifier head makes fine-tuned models 19-46M params.</a:t>
            </a:r>
          </a:p>
          <a:p>
            <a:r>
              <a:t>Bugs: argparse type=bool flags (False -&gt; True); Table 15 headers are Kappa / weighted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Setup: LaBraM-Base fine-tuned with its released run_class_finetuning.py (unmodified) and released weights (checkpoints/labram-base.pth), README recipe: lr 5e-4, layer decay 0.65, 5 warm-up epochs, 50 epochs, batch 64, drop path 0.1. Same LMDB data and subject splits as my CBraMod runs, seeds 0-4, checkpoint by validation kappa (4-class) / AUROC (binary), metrics computed with CBraMod's evaluator code. 20 runs on the M6000s.</a:t>
            </a:r>
          </a:p>
          <a:p>
            <a:r>
              <a:t>Choices neither paper specifies: LaBraM's fine-tuning hyperparameters (README recipe, untuned); on MentalArithmetic the A2-A1 channel is dropped because LaBraM has no embedding for it.</a:t>
            </a:r>
          </a:p>
          <a:p>
            <a:r>
              <a:t>LaBraM's own checkpoint rule (best validation accuracy) gives the same picture.</a:t>
            </a:r>
          </a:p>
          <a:p>
            <a:r>
              <a:t>Code and logs: methods/labram/experiments/finetune-cbramod-splits in the monorepo.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ctrTitle"/>
          </p:nvPr>
        </p:nvSpPr>
        <p:spPr>
          <a:xfrm>
            <a:off x="612648" y="3293316"/>
            <a:ext cx="5509071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600"/>
              <a:buFont typeface="Arial Black"/>
              <a:buNone/>
              <a:defRPr sz="3600">
                <a:solidFill>
                  <a:srgbClr val="FFCC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ubTitle" idx="1"/>
          </p:nvPr>
        </p:nvSpPr>
        <p:spPr>
          <a:xfrm>
            <a:off x="612648" y="4864061"/>
            <a:ext cx="5509071" cy="100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7" descr="A black background with white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" y="30146"/>
            <a:ext cx="3794760" cy="133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612647" y="365760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Arial Black"/>
              <a:buNone/>
              <a:defRPr sz="2800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612647" y="1810512"/>
            <a:ext cx="10972800" cy="436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">
  <p:cSld name="Section Divider ">
    <p:bg>
      <p:bgPr>
        <a:solidFill>
          <a:schemeClr val="dk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21"/>
          <p:cNvCxnSpPr/>
          <p:nvPr/>
        </p:nvCxnSpPr>
        <p:spPr>
          <a:xfrm>
            <a:off x="640080" y="4833257"/>
            <a:ext cx="3773731" cy="0"/>
          </a:xfrm>
          <a:prstGeom prst="straightConnector1">
            <a:avLst/>
          </a:prstGeom>
          <a:noFill/>
          <a:ln w="508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" name="Google Shape;28;p21"/>
          <p:cNvSpPr txBox="1">
            <a:spLocks noGrp="1"/>
          </p:cNvSpPr>
          <p:nvPr>
            <p:ph type="body" idx="1"/>
          </p:nvPr>
        </p:nvSpPr>
        <p:spPr>
          <a:xfrm>
            <a:off x="612648" y="4050792"/>
            <a:ext cx="45180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9" name="Google Shape;2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- Photo w/ Title and Content">
  <p:cSld name="2 Column - Photo w/ Title and Content">
    <p:bg>
      <p:bgPr>
        <a:solidFill>
          <a:schemeClr val="dk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>
            <a:spLocks noGrp="1"/>
          </p:cNvSpPr>
          <p:nvPr>
            <p:ph type="pic" idx="2"/>
          </p:nvPr>
        </p:nvSpPr>
        <p:spPr>
          <a:xfrm>
            <a:off x="612648" y="365760"/>
            <a:ext cx="5760720" cy="5674995"/>
          </a:xfrm>
          <a:prstGeom prst="rect">
            <a:avLst/>
          </a:prstGeom>
          <a:noFill/>
          <a:ln>
            <a:noFill/>
          </a:ln>
        </p:spPr>
      </p:sp>
      <p:pic>
        <p:nvPicPr>
          <p:cNvPr id="32" name="Google Shape;3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6562724" y="365760"/>
            <a:ext cx="5016629" cy="761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C00"/>
              </a:buClr>
              <a:buSzPts val="2000"/>
              <a:buNone/>
              <a:defRPr sz="2000">
                <a:solidFill>
                  <a:srgbClr val="FFCC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3"/>
          </p:nvPr>
        </p:nvSpPr>
        <p:spPr>
          <a:xfrm>
            <a:off x="6562724" y="1298448"/>
            <a:ext cx="5016629" cy="47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 descr="A white and red page with text and a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5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4870613" y="-623226"/>
            <a:ext cx="8104451" cy="81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5"/>
          <p:cNvSpPr txBox="1">
            <a:spLocks noGrp="1"/>
          </p:cNvSpPr>
          <p:nvPr>
            <p:ph type="title"/>
          </p:nvPr>
        </p:nvSpPr>
        <p:spPr>
          <a:xfrm>
            <a:off x="612648" y="365125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Arial Black"/>
              <a:buNone/>
              <a:defRPr sz="2800" b="0" i="0" u="none" strike="noStrike" cap="none">
                <a:solidFill>
                  <a:srgbClr val="FFC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body" idx="1"/>
          </p:nvPr>
        </p:nvSpPr>
        <p:spPr>
          <a:xfrm>
            <a:off x="612648" y="1825625"/>
            <a:ext cx="10972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>
            <a:spLocks noGrp="1"/>
          </p:cNvSpPr>
          <p:nvPr>
            <p:ph type="ctrTitle"/>
          </p:nvPr>
        </p:nvSpPr>
        <p:spPr>
          <a:xfrm>
            <a:off x="679650" y="2305200"/>
            <a:ext cx="10832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600"/>
              <a:buFont typeface="Arial Black"/>
              <a:buNone/>
            </a:pPr>
            <a:r>
              <a:rPr lang="en-US" sz="4000" b="1" dirty="0">
                <a:latin typeface="Arial"/>
                <a:ea typeface="Arial"/>
                <a:cs typeface="Arial"/>
                <a:sym typeface="Arial"/>
              </a:rPr>
              <a:t>Weekly Meeting: CBraMod Validation</a:t>
            </a:r>
            <a:endParaRPr sz="40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>
            <a:spLocks noGrp="1"/>
          </p:cNvSpPr>
          <p:nvPr>
            <p:ph type="subTitle" idx="1"/>
          </p:nvPr>
        </p:nvSpPr>
        <p:spPr>
          <a:xfrm>
            <a:off x="612648" y="4864061"/>
            <a:ext cx="5509071" cy="100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dirty="0"/>
              <a:t>Wooyoung Kim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dirty="0"/>
              <a:t>Media Communication Lab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Experiment Result in the Paper vs. on my end (CBraMod, ICLR 2025)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Released code + released pre-trained weights · paper fine-tuning setup (Table 6) · 5 seeds (0–4) · test mean ± std · Δ = mine −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Arial"/>
              </a:rPr>
              <a:t>Test metrics: paper vs. my reproduction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298448"/>
          <a:ext cx="6217920" cy="404164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17320"/>
                <a:gridCol w="1188720"/>
                <a:gridCol w="1371600"/>
                <a:gridCol w="1371600"/>
                <a:gridCol w="8686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Mine (5 seeds)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310896">
                <a:tc rowSpan="3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PhysioNet-MI</a:t>
                      </a:r>
                      <a:r>
                        <a:rPr sz="900" b="0">
                          <a:solidFill>
                            <a:srgbClr val="52514E"/>
                          </a:solidFill>
                          <a:latin typeface="Arial"/>
                        </a:rPr>
                        <a:t>
Table 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0.6417 ± 0.0091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0.6265 ± 0.0054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−0.0152*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Cohen's Kappa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0.5222 ± 0.0169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0.5019 ± 0.0072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−0.0203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Weighted F1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0.6427 ± 0.0100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0.6271 ± 0.0051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−0.0156*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rowSpan="3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BCIC-IV-2a</a:t>
                      </a:r>
                      <a:r>
                        <a:rPr sz="900" b="0">
                          <a:solidFill>
                            <a:srgbClr val="52514E"/>
                          </a:solidFill>
                          <a:latin typeface="Arial"/>
                        </a:rPr>
                        <a:t>
Table 15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0.5138 ± 0.0066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0.4571 ± 0.0399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−0.0567*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Cohen's Kappa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0.3518 ± 0.0094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0.2762 ± 0.0532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−0.0756*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Weighted F1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0.4984 ± 0.0085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0.4138 ± 0.0673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−0.0846*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</a:tr>
              <a:tr h="310896">
                <a:tc rowSpan="3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Mumtaz2016</a:t>
                      </a:r>
                      <a:r>
                        <a:rPr sz="900" b="0">
                          <a:solidFill>
                            <a:srgbClr val="52514E"/>
                          </a:solidFill>
                          <a:latin typeface="Arial"/>
                        </a:rPr>
                        <a:t>
Table 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0.9560 ± 0.0056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0.8933 ± 0.0101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−0.0627*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AUC-PR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0.9923 ± 0.0032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0.9780 ± 0.0049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−0.0143*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AUROC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0.9921 ± 0.0025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0.9770 ± 0.0059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−0.0151*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rowSpan="3"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MentalArithmetic</a:t>
                      </a:r>
                      <a:r>
                        <a:rPr sz="900" b="0">
                          <a:solidFill>
                            <a:srgbClr val="52514E"/>
                          </a:solidFill>
                          <a:latin typeface="Arial"/>
                        </a:rPr>
                        <a:t>
Table 12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0.7256 ± 0.0132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0.5889 ± 0.0209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B0B0B"/>
                          </a:solidFill>
                          <a:latin typeface="Arial"/>
                        </a:rPr>
                        <a:t>−0.1367*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AUC-PR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0.6267 ± 0.0099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0.5110 ± 0.1096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−0.1157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AUROC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0.7905 ± 0.0073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0.7344 ± 0.0515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B0B0B"/>
                          </a:solidFill>
                          <a:latin typeface="Arial"/>
                        </a:rPr>
                        <a:t>−0.0561</a:t>
                      </a:r>
                    </a:p>
                  </a:txBody>
                  <a:tcPr anchor="ctr" marL="45720" marR="45720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086600" y="960120"/>
            <a:ext cx="4709160" cy="4498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06984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Arial"/>
              </a:rPr>
              <a:t>Balanced accuracy</a:t>
            </a:r>
            <a:r>
              <a:rPr sz="1000" b="0" i="0">
                <a:solidFill>
                  <a:srgbClr val="52514E"/>
                </a:solidFill>
                <a:latin typeface="Arial"/>
              </a:rPr>
              <a:t>  (mean ± std, 5 seeds)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178040" y="1325880"/>
          <a:ext cx="4526280" cy="4069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97280" y="56692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CC00"/>
                </a:solidFill>
                <a:latin typeface="Arial"/>
              </a:rPr>
              <a:t>Takeaway: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All 12 metrics are below the paper (9 significant*). PhysioNet-MI (main text) is close (−1.5 pts BA) and still beats LaBraM-Base (paper’s number and my re-run); BCIC-IV-2a (−5.7 pts), Mumtaz2016 (−6.3 pts) and MentalArithmetic (−13.7 pts) are not reproduced.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* Welch t-test against the paper’s mean ± std (n = 5 vs. 5), p &lt; 0.05. Sample counts match the paper exactly; SHU-MI, FACED, SEED-V and TUAB/TUEV are access-gated.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Pre-training Ablation, Sanity Checks and Issues Found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Same released pipeline, 5 seeds; “w/o pre-train” = same model from random init; EEGNet-8,2 (~3K params) trained through the identical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Arial"/>
              </a:rPr>
              <a:t>Does pre-training help? (model-selection metric)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298448"/>
          <a:ext cx="6309360" cy="19751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3040"/>
                <a:gridCol w="1051560"/>
                <a:gridCol w="1188720"/>
                <a:gridCol w="1188720"/>
                <a:gridCol w="658368"/>
                <a:gridCol w="75895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w/ pre-train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w/o pre-train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Δ mine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Δ paper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PhysioNet-MI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Cohen's Kappa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0.5019 ± 0.0072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0.4317 ± 0.0109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+0.0701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+0.0228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BCIC-IV-2a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Cohen's Kappa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0.2762 ± 0.0532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0.2748 ± 0.0260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+0.0014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Mumtaz2016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AUROC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0.9770 ± 0.0059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0.9546 ± 0.0073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+0.0224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MentalArithmetic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AUROC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0.7344 ± 0.0515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0.6922 ± 0.0146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+0.0422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PhysioNet-MI</a:t>
                      </a:r>
                      <a:r>
                        <a:rPr sz="900" b="0">
                          <a:solidFill>
                            <a:srgbClr val="52514E"/>
                          </a:solidFill>
                          <a:latin typeface="Arial"/>
                        </a:rPr>
                        <a:t>
frozen backbone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Cohen's Kappa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0.3826 ± 0.0160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T18: 0.2983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1480" y="33649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Kappa for 4-class, AUROC for binary. The paper’s ablation (Table 4) covers PhysioNet-MI only; frozen = Table 18.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77647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Arial"/>
              </a:rPr>
              <a:t>Is the gap specific to CBraMod? (Δ BA vs. paper)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11480" y="4114800"/>
          <a:ext cx="6309360" cy="1371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3040"/>
                <a:gridCol w="1325880"/>
                <a:gridCol w="1325880"/>
                <a:gridCol w="219456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CBraMod Δ BA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EEGNet Δ BA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Other checks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PhysioNet-MI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−0.0152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+0.0134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EEGNet reproduces → pipeline OK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BCIC-IV-2a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−0.0567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+0.0806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EEGNet 0.529 &gt; CBraMod 0.457; paper data: 0.445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Mumtaz2016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−0.0627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−0.0404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same BA shortfall for both models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MentalArithmetic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−0.1367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−0.1201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seed 3407: 0.615; lr 5e-4: 0.536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95160" y="9601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Arial"/>
              </a:rPr>
              <a:t>What I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325880"/>
            <a:ext cx="48006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Pipeline is sound: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subject-independent splits, checkpoint chosen on validation, test scored once (no leakage, unlike EEG Conformer); sample counts match Table 1.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Pre-training helps PhysioNet-MI more than reported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(+0.0701 κ vs. +0.0228 in the paper), but not BCIC-IV-2a. A frozen backbone reaches BA 0.537, not 0.385.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A 3K-param EEGNet in the same pipeline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beats CBraMod on BCIC-IV-2a, and shows the same BA shortfall on the binary datasets (fixed 0.5 threshold, tiny validation sets).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Size and FLOPs under-reported: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backbone is 4.9M params, not 4.0M (thop skips attention); with the default head the fine-tuned model is 19–46M; FLOPs 1.6G vs. 0.32G reported.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Code ≠ paper: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“--use_pretrained_weights False” still loads the weights (type=bool); Table 15 headers are κ / F1; BCIC-IV-2a now 5,184 samples, not 5,088; seeds undisclosed.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4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CC00"/>
                </a:solidFill>
                <a:latin typeface="Arial"/>
              </a:rPr>
              <a:t>Conclusion: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clean pipeline and close on the main-text PhysioNet-MI, but the reported gains do not reproduce on 3 of 4 public datasets, so the “SOTA on all tasks” claim is not supported by my runs (gated datasets untested).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Fair Comparison: CBraMod vs. LaBraM-Base, Both Run on My End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LaBraM-Base: released script + weights, README recipe · same data, splits, seeds (0–4), checkpoint rule and metric code as my CBraMod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Arial"/>
              </a:rPr>
              <a:t>Both on my end: CBraMod vs. LaBraM-Base (5 seeds)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298448"/>
          <a:ext cx="6309360" cy="312724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3040"/>
                <a:gridCol w="1051560"/>
                <a:gridCol w="1188720"/>
                <a:gridCol w="1188720"/>
                <a:gridCol w="658368"/>
                <a:gridCol w="758952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CBraMod (mine)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LaBraM (mine)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Δ paper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PhysioNet-MI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0.6265 ± 0.0054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0.6098 ± 0.0098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+0.0167*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+0.0244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Cohen's Kappa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0.5019 ± 0.0072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0.4797 ± 0.0131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+0.0222*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+0.0310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BCIC-IV-2a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0.4571 ± 0.0399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0.4477 ± 0.0421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+0.0094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+0.0269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Cohen's Kappa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0.2762 ± 0.0532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0.2637 ± 0.0562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+0.0125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+0.0359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Mumtaz2016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0.8933 ± 0.0101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0.8905 ± 0.0041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+0.0028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+0.0151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AUROC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0.9770 ± 0.0059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0.9664 ± 0.0166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+0.0107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+0.0139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MentalArithmetic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0.5889 ± 0.0209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0.6562 ± 0.0397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−0.0674*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+0.0347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AUROC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0.7344 ± 0.0515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0.7791 ± 0.0608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−0.0447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+0.0184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1480" y="4498848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Kappa for 4-class, AUROC for binary: each model’s checkpoint metric. Δ = CBraMod − LaBraM; * Welch p &lt; 0.05 (n = 5 vs. 5). Δ paper = the paper’s CBraMod − LaBraM-Base.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9601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Arial"/>
              </a:rPr>
              <a:t>LaBraM-Base: paper vs. my re-run (BA)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995160" y="1298448"/>
          <a:ext cx="4800600" cy="1371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25880"/>
                <a:gridCol w="1234440"/>
                <a:gridCol w="1234440"/>
                <a:gridCol w="100584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Mine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PhysioNet-MI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0.6173 ± 0.0122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0.6098 ± 0.0098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−0.0075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BCIC-IV-2a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0.4869 ± 0.0085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0.4477 ± 0.0421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−0.0392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Mumtaz2016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0.9409 ± 0.0079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0.8905 ± 0.0041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−0.0504*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Arial"/>
                        </a:rPr>
                        <a:t>MentalArithmetic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0.6909 ± 0.0125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0.6562 ± 0.0397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0B0B"/>
                          </a:solidFill>
                          <a:latin typeface="Arial"/>
                        </a:rPr>
                        <a:t>−0.0346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95160" y="294436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  <a:latin typeface="Arial"/>
              </a:rPr>
              <a:t>What I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310128"/>
            <a:ext cx="4800600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LaBraM reproduces its paper numbers: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within noise on 10 of 12 metrics, while my CBraMod is significantly below its paper numbers on 9 of 12.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CBraMod &gt; LaBraM only on PhysioNet-MI: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+0.017 BA and +0.022 κ (p = 0.015), about two-thirds of the paper’s margin.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Tie on BCIC-IV-2a and Mumtaz2016; LaBraM ahead on MentalArithmetic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(+0.067 BA, p = 0.015). The paper puts CBraMod ahead on all four.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sz="1150" b="1" i="0">
                <a:solidFill>
                  <a:srgbClr val="FFFFFF"/>
                </a:solidFill>
                <a:latin typeface="Arial"/>
              </a:rPr>
              <a:t>Mumtaz2016 shortfall comes from the pipeline: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CBraMod, LaBraM and EEGNet all miss the paper’s BA by 0.04–0.06; the code’s subject split differs from the paper’s.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4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CC00"/>
                </a:solidFill>
                <a:latin typeface="Arial"/>
              </a:rPr>
              <a:t>Conclusion: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LaBraM-Base reproduces its reported numbers and CBraMod does not; run side by side, CBraMod leads only on PhysioNet-MI, so the paper’s advantage over its best baseline holds on 1 of 4 public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612648" y="4050792"/>
            <a:ext cx="45180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SC Powerpoint Template - Red ">
  <a:themeElements>
    <a:clrScheme name="Custom 51">
      <a:dk1>
        <a:srgbClr val="990000"/>
      </a:dk1>
      <a:lt1>
        <a:srgbClr val="FFFFFF"/>
      </a:lt1>
      <a:dk2>
        <a:srgbClr val="445469"/>
      </a:dk2>
      <a:lt2>
        <a:srgbClr val="E7E6E6"/>
      </a:lt2>
      <a:accent1>
        <a:srgbClr val="991B1E"/>
      </a:accent1>
      <a:accent2>
        <a:srgbClr val="FFCC00"/>
      </a:accent2>
      <a:accent3>
        <a:srgbClr val="939598"/>
      </a:accent3>
      <a:accent4>
        <a:srgbClr val="CCCCCC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117</Words>
  <Application>Microsoft Macintosh PowerPoint</Application>
  <PresentationFormat>Widescreen</PresentationFormat>
  <Paragraphs>62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1_Custom Design</vt:lpstr>
      <vt:lpstr>USC Powerpoint Template - Red </vt:lpstr>
      <vt:lpstr>Weekly Meeting: EEG Conformer Validation </vt:lpstr>
      <vt:lpstr>Experiment Result in the Paper (https://ieeexplore.ieee.org/stamp/stamp.jsp?tp=&amp;arnumber=9991178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Diana Molleda</dc:creator>
  <cp:lastModifiedBy>Wooyoung Kim</cp:lastModifiedBy>
  <cp:revision>6</cp:revision>
  <dcterms:created xsi:type="dcterms:W3CDTF">2018-10-15T18:11:54Z</dcterms:created>
  <dcterms:modified xsi:type="dcterms:W3CDTF">2026-09-28T08:52:41Z</dcterms:modified>
</cp:coreProperties>
</file>